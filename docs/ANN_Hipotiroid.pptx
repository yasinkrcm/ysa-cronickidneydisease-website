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72" r:id="rId15"/>
    <p:sldId id="274" r:id="rId16"/>
    <p:sldId id="267" r:id="rId17"/>
    <p:sldId id="273" r:id="rId18"/>
    <p:sldId id="275" r:id="rId19"/>
    <p:sldId id="268" r:id="rId20"/>
    <p:sldId id="269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5F7EED-8619-600B-EB6B-7BA710AA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450DEDA-D717-47E6-5F04-36F04ECBB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6C1BABA-3084-8703-194A-C7D7934D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F30A5A5-EF6D-3F41-BD73-96CCFB4FA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C853DA-3494-DA50-3A38-71A617C2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5270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6E1D56-D8B8-80AC-BAA5-A62EB661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79E3C69-A07A-7B1A-2F1E-3BF175066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7E3265F-6C54-764A-6F17-6EC70A1F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D710E53-2081-A003-D65B-7FF1018BE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DC54850-7203-BA10-5D96-C69DE934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083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00F51B-5EC1-CE1D-1594-28C92FD3E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3D0F7FE-DF08-5E84-32B9-EE06AD85B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48502C2-6D0A-AB0D-E193-D43DDC9D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0DA32CE-1B76-4057-4675-9AB5C301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1F15B16-4BE2-AA82-F10D-FD482B16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333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FE40AF-FE05-C12C-D1F7-78400E0B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E57539F-C0D8-C5BA-F094-E743ABA9A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C120E14-5F17-A17C-21C4-E1115514B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04F3B7B-0445-A560-D7F4-2C73E1F0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484D4F5-DB11-D8FF-F08C-640825473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AE9FD2F-9039-504A-8D62-3D24BAE5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5324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588B97-65D6-55B3-006B-AC4F7EBE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D65EBDB-AF03-7947-558A-E1E41A933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CB40CFF-EA16-8AE1-B586-A3F44382B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16D43B4A-EF96-5635-E9AE-3B94914F6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66D29D9-E479-CBCB-7332-4C6281CB2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DFF75C69-9F66-3E08-D59F-D8F44534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FB20D53-C0CA-76BC-186E-5D81914D1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04AD46F-47DF-B72A-CA5B-D0A3765B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3867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5A3C9E-8605-8082-1DC7-22A0CF5F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1621C49-7AA0-577D-31A8-CF686498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E639147-00E3-EB06-4FDC-B2E9F694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6D536A8-9F1C-1B9A-CA44-B4A865805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963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E349801-C8DC-595F-CE67-28712A6F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9B3FC7C-3C40-13A5-B6C7-0EB40996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99F38624-08A4-5642-924A-C599BBC1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073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EA5241-69F8-5720-7511-A6B1DAF8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D0256D-F2C3-F387-F447-E2F74004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213DC60-0BFF-5FB7-86A1-407FF60D8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81DE749-5746-0633-DD52-759064E4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CCAB5A7-8768-863A-05BD-4B179398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F72BE8E-FD9E-712A-2446-24136150D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48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1171D4-1462-EE92-63F9-731F3412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DE11DB7-AC75-1451-CC79-A9B5A644A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3FF63FC-5900-A943-1E34-DC6EE67C8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A652B1F-5D93-26B8-3B8E-3A70FE1B2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A19EA7A-FF16-7A64-FED1-DCB7DAAE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6B2D98D-2EA6-304A-2B85-2C0140CD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3213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9E3D62-07CD-29C5-1C82-DD074C26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5C8E445-3352-A807-A0D3-1F76B7C19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6EA067-F679-26E2-845E-1E2F9B7FA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DE5AABF-100C-AC34-1D5B-7ACB003C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42FD17-C09F-445F-E559-10488B2C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840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5852094-7F27-45D9-5498-73923F770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ABC768E-783C-B69D-3E0D-851F54888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6020DB3-B2B8-F35F-E2AB-579416DDD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C33C4F0-BDBF-637F-DDAE-CB789CBB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16E7D8E-014F-EE56-6688-5D90D5C0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282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00193FF-8E2E-FD95-4ADA-0FA10CF5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250DC73-9913-FB00-523D-ABABEDE25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469067F-5D0C-A0E9-8B7D-A10BBB80D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48D3E-32BA-4EDE-82FF-67CD0F289EF0}" type="datetimeFigureOut">
              <a:rPr lang="tr-TR" smtClean="0"/>
              <a:t>14.04.2026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EB47264-E9F2-F770-639E-23A6BB788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87E0A4-64BD-DF52-246F-14FC427AE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5B8FC-A7E8-4E67-92FD-F355C74679A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2189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08E40435-580C-A415-8AEC-E5DA3A070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00"/>
                    </a14:imgEffect>
                    <a14:imgEffect>
                      <a14:brightnessContrast bright="5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2630" y="-20954"/>
            <a:ext cx="12407350" cy="7186863"/>
          </a:xfrm>
          <a:prstGeom prst="rect">
            <a:avLst/>
          </a:prstGeom>
          <a:effectLst>
            <a:outerShdw dist="50800" dir="21120000" algn="ctr" rotWithShape="0">
              <a:schemeClr val="bg1">
                <a:alpha val="0"/>
              </a:schemeClr>
            </a:outerShdw>
          </a:effectLst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F14013C-F1F1-D2CF-84F9-1EC136CE2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6400"/>
            <a:ext cx="9144000" cy="2387600"/>
          </a:xfrm>
        </p:spPr>
        <p:txBody>
          <a:bodyPr/>
          <a:lstStyle/>
          <a:p>
            <a:r>
              <a:rPr lang="tr-TR" b="1" dirty="0"/>
              <a:t>Yapay Zeka ile Hastalık Tespiti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F6E2F57-2A54-5BB0-63E9-6934D12EF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56606"/>
            <a:ext cx="9144000" cy="3103562"/>
          </a:xfrm>
        </p:spPr>
        <p:txBody>
          <a:bodyPr>
            <a:normAutofit/>
          </a:bodyPr>
          <a:lstStyle/>
          <a:p>
            <a:r>
              <a:rPr lang="tr-TR" sz="5400" b="1" dirty="0"/>
              <a:t>Hipotiroidizm</a:t>
            </a:r>
          </a:p>
          <a:p>
            <a:endParaRPr lang="tr-TR" sz="5400" b="1" dirty="0"/>
          </a:p>
          <a:p>
            <a:r>
              <a:rPr lang="tr-TR" sz="3900" dirty="0"/>
              <a:t>Hazırlayan ve Sunan: Yusuf Baykan</a:t>
            </a:r>
          </a:p>
        </p:txBody>
      </p:sp>
    </p:spTree>
    <p:extLst>
      <p:ext uri="{BB962C8B-B14F-4D97-AF65-F5344CB8AC3E}">
        <p14:creationId xmlns:p14="http://schemas.microsoft.com/office/powerpoint/2010/main" val="186383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DDE563F-E23D-5F7C-EE36-65460311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696"/>
          </a:xfrm>
        </p:spPr>
        <p:txBody>
          <a:bodyPr/>
          <a:lstStyle/>
          <a:p>
            <a:pPr algn="ctr"/>
            <a:r>
              <a:rPr lang="tr-TR" b="1" dirty="0"/>
              <a:t>Hipotiroidi Nedir?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2F8D38-A351-F08F-998F-F1B5EFBE41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6937"/>
            <a:ext cx="10631905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dirty="0" err="1"/>
              <a:t>Tiroid</a:t>
            </a:r>
            <a:r>
              <a:rPr lang="tr-TR" dirty="0"/>
              <a:t> Bezi: Vücudun "motorudur". Metabolizma hızını düzenleyen hormonları (T3 ve T4) üretir.</a:t>
            </a:r>
          </a:p>
          <a:p>
            <a:r>
              <a:rPr lang="tr-TR" dirty="0"/>
              <a:t>Hipotiroidi (</a:t>
            </a:r>
            <a:r>
              <a:rPr lang="tr-TR" dirty="0" err="1"/>
              <a:t>Tiroid</a:t>
            </a:r>
            <a:r>
              <a:rPr lang="tr-TR" dirty="0"/>
              <a:t> Yetmezliği): Motorun yavaşlamasıdır. </a:t>
            </a:r>
            <a:r>
              <a:rPr lang="tr-TR" dirty="0" err="1"/>
              <a:t>Tiroid</a:t>
            </a:r>
            <a:r>
              <a:rPr lang="tr-TR" dirty="0"/>
              <a:t> bezinin yeterli hormon üretememesi durumudur.</a:t>
            </a:r>
          </a:p>
          <a:p>
            <a:r>
              <a:rPr lang="tr-TR" dirty="0"/>
              <a:t>Neden Önemli?: Yorgunluk, kilo alımı ve depresyon gibi belirtilerle başlar; teşhis gecikirse kalıcı hasarlara yol açabilir.</a:t>
            </a:r>
          </a:p>
          <a:p>
            <a:r>
              <a:rPr lang="tr-TR" dirty="0"/>
              <a:t>Yapay Zeka Neden Devrede?: Teşhis sadece tek bir değere bakılarak değil, hastanın yaşı, cinsiyeti ve birçok hormonun birbirleriyle olan karmaşık ilişkisi analiz edilerek konur. YSA (Yapay Sinir Ağları) bu görünmez ilişkileri yakalamak için idealdir.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578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146EE7-7BE1-E1B1-DC9E-C984D173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2622"/>
          </a:xfrm>
        </p:spPr>
        <p:txBody>
          <a:bodyPr/>
          <a:lstStyle/>
          <a:p>
            <a:pPr algn="ctr"/>
            <a:r>
              <a:rPr lang="tr-TR" b="1" dirty="0"/>
              <a:t>Veri Setinin Anatomisi (Değişkenler/Özellikler)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780BE5D-6C6B-771A-F1C4-3E4915D94A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308" y="1933683"/>
            <a:ext cx="10953082" cy="481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2400" b="1" dirty="0"/>
              <a:t>Demografik Bilgiler: </a:t>
            </a:r>
            <a:r>
              <a:rPr lang="tr-TR" sz="2400" dirty="0"/>
              <a:t>Yaş (</a:t>
            </a:r>
            <a:r>
              <a:rPr lang="tr-TR" sz="2400" dirty="0" err="1"/>
              <a:t>age</a:t>
            </a:r>
            <a:r>
              <a:rPr lang="tr-TR" sz="2400" dirty="0"/>
              <a:t>), Cinsiyet (</a:t>
            </a:r>
            <a:r>
              <a:rPr lang="tr-TR" sz="2400" dirty="0" err="1"/>
              <a:t>sex</a:t>
            </a:r>
            <a:r>
              <a:rPr lang="tr-TR" sz="2400" dirty="0"/>
              <a:t>).</a:t>
            </a:r>
          </a:p>
          <a:p>
            <a:r>
              <a:rPr lang="tr-TR" sz="2400" b="1" dirty="0"/>
              <a:t>Altın Standart Laboratuvar Testleri:</a:t>
            </a:r>
          </a:p>
          <a:p>
            <a:r>
              <a:rPr lang="tr-TR" sz="2400" b="1" dirty="0"/>
              <a:t>TSH</a:t>
            </a:r>
            <a:r>
              <a:rPr lang="tr-TR" sz="2400" dirty="0"/>
              <a:t>: Beynin tiroidi uyarmak için gönderdiği sinyal. (Hipotiroidide genellikle çok yüksek çıkar).</a:t>
            </a:r>
          </a:p>
          <a:p>
            <a:r>
              <a:rPr lang="tr-TR" sz="2400" b="1" dirty="0"/>
              <a:t>T3 ve TT4: </a:t>
            </a:r>
            <a:r>
              <a:rPr lang="tr-TR" sz="2400" dirty="0"/>
              <a:t>Kanda dolaşan asıl </a:t>
            </a:r>
            <a:r>
              <a:rPr lang="tr-TR" sz="2400" dirty="0" err="1"/>
              <a:t>tiroid</a:t>
            </a:r>
            <a:r>
              <a:rPr lang="tr-TR" sz="2400" dirty="0"/>
              <a:t> hormonları. (Hipotiroidide düşük çıkarlar).</a:t>
            </a:r>
          </a:p>
          <a:p>
            <a:r>
              <a:rPr lang="tr-TR" sz="2400" b="1" dirty="0"/>
              <a:t>FTI</a:t>
            </a:r>
            <a:r>
              <a:rPr lang="tr-TR" sz="2400" dirty="0"/>
              <a:t>: Serbest Tiroksin İndeksi (Kandaki kullanılabilir hormon miktarı).</a:t>
            </a:r>
          </a:p>
          <a:p>
            <a:r>
              <a:rPr lang="tr-TR" sz="2400" b="1" dirty="0"/>
              <a:t>Klinik Geçmiş ve Durumlar:</a:t>
            </a:r>
          </a:p>
          <a:p>
            <a:r>
              <a:rPr lang="tr-TR" sz="2400" b="1" dirty="0" err="1"/>
              <a:t>on_thyroxine</a:t>
            </a:r>
            <a:r>
              <a:rPr lang="tr-TR" sz="2400" b="1" dirty="0"/>
              <a:t>: </a:t>
            </a:r>
            <a:r>
              <a:rPr lang="tr-TR" sz="2400" dirty="0"/>
              <a:t>Hasta zaten </a:t>
            </a:r>
            <a:r>
              <a:rPr lang="tr-TR" sz="2400" dirty="0" err="1"/>
              <a:t>tiroid</a:t>
            </a:r>
            <a:r>
              <a:rPr lang="tr-TR" sz="2400" dirty="0"/>
              <a:t> ilacı kullanıyor mu?</a:t>
            </a:r>
          </a:p>
          <a:p>
            <a:r>
              <a:rPr lang="tr-TR" sz="2400" b="1" dirty="0" err="1"/>
              <a:t>sick</a:t>
            </a:r>
            <a:r>
              <a:rPr lang="tr-TR" sz="2400" b="1" dirty="0"/>
              <a:t> / </a:t>
            </a:r>
            <a:r>
              <a:rPr lang="tr-TR" sz="2400" b="1" dirty="0" err="1"/>
              <a:t>tumor</a:t>
            </a:r>
            <a:r>
              <a:rPr lang="tr-TR" sz="2400" b="1" dirty="0"/>
              <a:t> / </a:t>
            </a:r>
            <a:r>
              <a:rPr lang="tr-TR" sz="2400" b="1" dirty="0" err="1"/>
              <a:t>goitre</a:t>
            </a:r>
            <a:r>
              <a:rPr lang="tr-TR" sz="2400" b="1" dirty="0"/>
              <a:t>: </a:t>
            </a:r>
            <a:r>
              <a:rPr lang="tr-TR" sz="2400" dirty="0"/>
              <a:t>Başka bir hastalık, tümör veya guatr şüphesi var mı?</a:t>
            </a:r>
          </a:p>
          <a:p>
            <a:r>
              <a:rPr lang="tr-TR" sz="2400" b="1" dirty="0"/>
              <a:t>Hedef Değişken (</a:t>
            </a:r>
            <a:r>
              <a:rPr lang="tr-TR" sz="2400" b="1" dirty="0" err="1"/>
              <a:t>Target</a:t>
            </a:r>
            <a:r>
              <a:rPr lang="tr-TR" sz="2400" b="1" dirty="0"/>
              <a:t>): * </a:t>
            </a:r>
            <a:r>
              <a:rPr lang="tr-TR" sz="2400" b="1" dirty="0" err="1"/>
              <a:t>binaryClass</a:t>
            </a:r>
            <a:r>
              <a:rPr lang="tr-TR" sz="2400" b="1" dirty="0"/>
              <a:t> </a:t>
            </a:r>
            <a:r>
              <a:rPr lang="tr-TR" sz="2400" dirty="0"/>
              <a:t>-&gt; 0: Sağlıklı, 1: Hipotiroidi Hastası.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5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3920CA6-3416-D98B-9B95-F2F46E4C8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4286"/>
          </a:xfrm>
        </p:spPr>
        <p:txBody>
          <a:bodyPr/>
          <a:lstStyle/>
          <a:p>
            <a:pPr algn="ctr"/>
            <a:r>
              <a:rPr lang="tr-TR" b="1"/>
              <a:t>Verideki En Büyük Engel: Sınıf Dengesizliği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E49FCD-DDBD-C3A0-4183-33E20746A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2" y="1480624"/>
            <a:ext cx="6124074" cy="4486275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/>
              <a:t>Tıbbi Verilerin Doğası: </a:t>
            </a:r>
            <a:r>
              <a:rPr lang="tr-TR" dirty="0"/>
              <a:t>Hastalar her zaman azınlıktadır. (3481 Sağlıklı vs. 291 Hasta).</a:t>
            </a:r>
          </a:p>
          <a:p>
            <a:r>
              <a:rPr lang="tr-TR" b="1" dirty="0"/>
              <a:t>Tehlike (Doğruluk Paradoksu):</a:t>
            </a:r>
            <a:r>
              <a:rPr lang="tr-TR" dirty="0"/>
              <a:t> Model, laboratuvar değerlerine hiç bakmadan herkese körü körüne "Sağlıklı" derse bile %92 doğruluk (</a:t>
            </a:r>
            <a:r>
              <a:rPr lang="tr-TR" dirty="0" err="1"/>
              <a:t>Accuracy</a:t>
            </a:r>
            <a:r>
              <a:rPr lang="tr-TR" dirty="0"/>
              <a:t>) yakalayabilir. Ancak asıl hedef olan %8'lik hasta grubunu tamamen kaçırır.</a:t>
            </a:r>
          </a:p>
          <a:p>
            <a:r>
              <a:rPr lang="tr-TR" b="1" dirty="0"/>
              <a:t>Mühendislik Çözümü (</a:t>
            </a:r>
            <a:r>
              <a:rPr lang="tr-TR" b="1" dirty="0" err="1"/>
              <a:t>pos_weight</a:t>
            </a:r>
            <a:r>
              <a:rPr lang="tr-TR" b="1" dirty="0"/>
              <a:t>):</a:t>
            </a:r>
            <a:br>
              <a:rPr lang="tr-TR" dirty="0"/>
            </a:br>
            <a:endParaRPr lang="tr-TR" dirty="0"/>
          </a:p>
          <a:p>
            <a:r>
              <a:rPr lang="tr-TR" dirty="0" err="1"/>
              <a:t>PyTorch'ta</a:t>
            </a:r>
            <a:r>
              <a:rPr lang="tr-TR" dirty="0"/>
              <a:t> </a:t>
            </a:r>
            <a:r>
              <a:rPr lang="tr-TR" dirty="0" err="1"/>
              <a:t>BCEWithLogitsLoss</a:t>
            </a:r>
            <a:r>
              <a:rPr lang="tr-TR" dirty="0"/>
              <a:t> içerisine 11.94 değerinde bir ceza katsayısı entegre ettik.</a:t>
            </a:r>
          </a:p>
          <a:p>
            <a:r>
              <a:rPr lang="tr-TR" dirty="0"/>
              <a:t>Model azınlık olan hastaları yanlış tahmin ederse 12 kat daha fazla ceza alır.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452A473-91E6-2299-2B44-E0AF48B9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883" y="1480624"/>
            <a:ext cx="5580598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7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8F11F9-33F4-583B-85BF-66BFCE44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rmAutofit fontScale="90000"/>
          </a:bodyPr>
          <a:lstStyle/>
          <a:p>
            <a:pPr algn="ctr"/>
            <a:r>
              <a:rPr lang="tr-TR" b="1" dirty="0"/>
              <a:t>Verinin Karakteri ve Eksik Veri Stratejisi</a:t>
            </a:r>
            <a:br>
              <a:rPr lang="tr-TR" b="1" dirty="0"/>
            </a:br>
            <a:r>
              <a:rPr lang="tr-TR" b="1" dirty="0"/>
              <a:t> (Histogram &amp; </a:t>
            </a:r>
            <a:r>
              <a:rPr lang="tr-TR" b="1" dirty="0" err="1"/>
              <a:t>Boxplot</a:t>
            </a:r>
            <a:r>
              <a:rPr lang="tr-TR" b="1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C060C02-2820-2FF2-BC14-67AD5340E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Normal Olmayan Dağılım: </a:t>
            </a:r>
            <a:r>
              <a:rPr lang="tr-TR" dirty="0"/>
              <a:t>Hormon testleri (TSH, T3 vb.) klasik bir çan eğrisi (normal dağılım) göstermiyor. Aksine, bir yöne doğru ciddi şekilde çarpık (</a:t>
            </a:r>
            <a:r>
              <a:rPr lang="tr-TR" dirty="0" err="1"/>
              <a:t>skewed</a:t>
            </a:r>
            <a:r>
              <a:rPr lang="tr-TR" dirty="0"/>
              <a:t>) yapıdalar.</a:t>
            </a:r>
          </a:p>
          <a:p>
            <a:r>
              <a:rPr lang="tr-TR" b="1" dirty="0"/>
              <a:t>Aykırı Değerler (</a:t>
            </a:r>
            <a:r>
              <a:rPr lang="tr-TR" b="1" dirty="0" err="1"/>
              <a:t>Outliers</a:t>
            </a:r>
            <a:r>
              <a:rPr lang="tr-TR" b="1" dirty="0"/>
              <a:t>):</a:t>
            </a:r>
            <a:r>
              <a:rPr lang="tr-TR" dirty="0"/>
              <a:t> TSH değerlerinde ortalamayı inanılmaz derecede yukarı çeken uç noktalar (</a:t>
            </a:r>
            <a:r>
              <a:rPr lang="tr-TR" dirty="0" err="1"/>
              <a:t>outliers</a:t>
            </a:r>
            <a:r>
              <a:rPr lang="tr-TR" dirty="0"/>
              <a:t>) gözlemledik.</a:t>
            </a:r>
          </a:p>
          <a:p>
            <a:r>
              <a:rPr lang="tr-TR" b="1" dirty="0"/>
              <a:t>Stratejik Karar (Medyan Kullanımı): </a:t>
            </a:r>
            <a:r>
              <a:rPr lang="tr-TR" dirty="0"/>
              <a:t>Bu iki sebepten dolayı, eksik veri olan (</a:t>
            </a:r>
            <a:r>
              <a:rPr lang="tr-TR" dirty="0" err="1"/>
              <a:t>NaN</a:t>
            </a:r>
            <a:r>
              <a:rPr lang="tr-TR" dirty="0"/>
              <a:t>) hücreleri ortalama (</a:t>
            </a:r>
            <a:r>
              <a:rPr lang="tr-TR" dirty="0" err="1"/>
              <a:t>mean</a:t>
            </a:r>
            <a:r>
              <a:rPr lang="tr-TR" dirty="0"/>
              <a:t>) ile doldurmak ölümcül bir hata olurdu. Biz eksik verileri dışsal şoklara çok daha dayanıklı olan Medyan (Ortanca) değeri ile doldurmayı tercih ettik.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98313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EF62AE1-72CC-C03E-27CC-5DBF7629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A61AA49-A8F8-2A73-3E7B-8DD3780C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34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E860E3-DF85-31FE-9A4A-62339263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Özellikler Arası İlişkiler (Korelasyon Isı Haritası)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5ACABB3-CAF9-4C5F-A2F0-E794E57E2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61" y="1204677"/>
            <a:ext cx="5578642" cy="4735596"/>
          </a:xfrm>
        </p:spPr>
        <p:txBody>
          <a:bodyPr>
            <a:normAutofit fontScale="92500" lnSpcReduction="20000"/>
          </a:bodyPr>
          <a:lstStyle/>
          <a:p>
            <a:r>
              <a:rPr lang="tr-TR" b="1" dirty="0"/>
              <a:t>Ön Keşif (Korelasyon): </a:t>
            </a:r>
            <a:r>
              <a:rPr lang="tr-TR" dirty="0"/>
              <a:t>Isı haritası, hangi laboratuvar testinin hastalıkla (</a:t>
            </a:r>
            <a:r>
              <a:rPr lang="tr-TR" dirty="0" err="1"/>
              <a:t>binaryClass</a:t>
            </a:r>
            <a:r>
              <a:rPr lang="tr-TR" dirty="0"/>
              <a:t>) daha çok ilişkili olduğunu matematiksel olarak gösterir.</a:t>
            </a:r>
          </a:p>
          <a:p>
            <a:r>
              <a:rPr lang="tr-TR" b="1" dirty="0"/>
              <a:t>En Güçlü Sinyal: </a:t>
            </a:r>
            <a:r>
              <a:rPr lang="tr-TR" dirty="0"/>
              <a:t>Haritaya baktığımızda TSH ile </a:t>
            </a:r>
            <a:r>
              <a:rPr lang="tr-TR" dirty="0" err="1"/>
              <a:t>binaryClass</a:t>
            </a:r>
            <a:r>
              <a:rPr lang="tr-TR" dirty="0"/>
              <a:t> arasında en güçlü pozitif ilişkiyi (+0.43) görüyoruz.</a:t>
            </a:r>
          </a:p>
          <a:p>
            <a:r>
              <a:rPr lang="tr-TR" b="1" dirty="0"/>
              <a:t>Ters Orantı: </a:t>
            </a:r>
            <a:r>
              <a:rPr lang="tr-TR" dirty="0"/>
              <a:t>T3 ve </a:t>
            </a:r>
            <a:r>
              <a:rPr lang="tr-TR" dirty="0" err="1"/>
              <a:t>binaryClass</a:t>
            </a:r>
            <a:r>
              <a:rPr lang="tr-TR" dirty="0"/>
              <a:t> arasında ise negatif bir ilişki (-0.19) mevcut.</a:t>
            </a:r>
          </a:p>
          <a:p>
            <a:r>
              <a:rPr lang="tr-TR" b="1" dirty="0"/>
              <a:t>XAI Doğrulaması: </a:t>
            </a:r>
            <a:r>
              <a:rPr lang="tr-TR" dirty="0"/>
              <a:t>Bu matematiksel ön keşif, sunumun sonunda göreceğimiz </a:t>
            </a:r>
            <a:r>
              <a:rPr lang="tr-TR" dirty="0" err="1"/>
              <a:t>Captum</a:t>
            </a:r>
            <a:r>
              <a:rPr lang="tr-TR" dirty="0"/>
              <a:t> (Yapay Zeka </a:t>
            </a:r>
            <a:r>
              <a:rPr lang="tr-TR" dirty="0" err="1"/>
              <a:t>Açıklanabilirliği</a:t>
            </a:r>
            <a:r>
              <a:rPr lang="tr-TR" dirty="0"/>
              <a:t>) sonuçlarıyla birebir örtüşecektir.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B931FDB4-2B55-005D-1988-071A8F7C7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068" y="1204677"/>
            <a:ext cx="5385725" cy="473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0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CCDAE6D-CF8B-9058-3B85-D987A9BC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117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Dinamik Yapay Sinir Ağı Mimarisi (</a:t>
            </a:r>
            <a:r>
              <a:rPr lang="tr-TR" dirty="0" err="1"/>
              <a:t>PyTorchANN</a:t>
            </a:r>
            <a:r>
              <a:rPr lang="tr-TR" dirty="0"/>
              <a:t>)(</a:t>
            </a:r>
            <a:r>
              <a:rPr lang="tr-TR" dirty="0" err="1"/>
              <a:t>ReLU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45F09A9-DBCF-16F9-5D02-F01D8B2EF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59" y="1235242"/>
            <a:ext cx="4936958" cy="5065128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/>
              <a:t>Özel Tasarım Sınıf: </a:t>
            </a:r>
            <a:r>
              <a:rPr lang="tr-TR" dirty="0" err="1"/>
              <a:t>PyTorch</a:t>
            </a:r>
            <a:r>
              <a:rPr lang="tr-TR" dirty="0"/>
              <a:t> ile sabit değil, katman sayısını dışarıdan belirleyebildiğimiz esnek bir ağ sınıfı (</a:t>
            </a:r>
            <a:r>
              <a:rPr lang="tr-TR" dirty="0" err="1"/>
              <a:t>PyTorchANN</a:t>
            </a:r>
            <a:r>
              <a:rPr lang="tr-TR" dirty="0"/>
              <a:t>) tasarladık.</a:t>
            </a:r>
          </a:p>
          <a:p>
            <a:r>
              <a:rPr lang="tr-TR" b="1" dirty="0"/>
              <a:t>Darboğaz (</a:t>
            </a:r>
            <a:r>
              <a:rPr lang="tr-TR" b="1" dirty="0" err="1"/>
              <a:t>Bottleneck</a:t>
            </a:r>
            <a:r>
              <a:rPr lang="tr-TR" b="1" dirty="0"/>
              <a:t>) Mimarisi: </a:t>
            </a:r>
            <a:r>
              <a:rPr lang="tr-TR" dirty="0"/>
              <a:t>Girdi 26 özellik iken, ağımız [32, 16] şeklinde daralarak sadece 1 çıktıya (0 veya 1) ulaşıyor.</a:t>
            </a:r>
          </a:p>
          <a:p>
            <a:r>
              <a:rPr lang="tr-TR" b="1" dirty="0"/>
              <a:t>Neden Daralttık? </a:t>
            </a:r>
            <a:r>
              <a:rPr lang="tr-TR" dirty="0"/>
              <a:t>Gereksiz özellikleri eleyip, sadece hastalığın "özünü" (</a:t>
            </a:r>
            <a:r>
              <a:rPr lang="tr-TR" dirty="0" err="1"/>
              <a:t>bottleneck</a:t>
            </a:r>
            <a:r>
              <a:rPr lang="tr-TR" dirty="0"/>
              <a:t>) bulmaya zorlamak için.</a:t>
            </a:r>
          </a:p>
          <a:p>
            <a:r>
              <a:rPr lang="tr-TR" b="1" dirty="0"/>
              <a:t>Unutkanlık Mekanizması (</a:t>
            </a:r>
            <a:r>
              <a:rPr lang="tr-TR" b="1" dirty="0" err="1"/>
              <a:t>Dropout</a:t>
            </a:r>
            <a:r>
              <a:rPr lang="tr-TR" b="1" dirty="0"/>
              <a:t>): </a:t>
            </a:r>
            <a:r>
              <a:rPr lang="tr-TR" dirty="0"/>
              <a:t>Her katmanda nöronların %50'sini rastgele kapatarak (</a:t>
            </a:r>
            <a:r>
              <a:rPr lang="tr-TR" dirty="0" err="1"/>
              <a:t>dropout_prob</a:t>
            </a:r>
            <a:r>
              <a:rPr lang="tr-TR" dirty="0"/>
              <a:t>=0.5), ağın sadece belli değerlere (örneğin sadece </a:t>
            </a:r>
            <a:r>
              <a:rPr lang="tr-TR" dirty="0" err="1"/>
              <a:t>TSH'a</a:t>
            </a:r>
            <a:r>
              <a:rPr lang="tr-TR" dirty="0"/>
              <a:t>) bağımlı kalmasını ve ezber yapmasını engelledik.</a:t>
            </a:r>
          </a:p>
          <a:p>
            <a:r>
              <a:rPr lang="tr-TR" b="1" dirty="0"/>
              <a:t>Aktivasyon: </a:t>
            </a:r>
            <a:r>
              <a:rPr lang="tr-TR" dirty="0"/>
              <a:t>Çıktıda bilinçli olarak Sigmoid kullanmadık; matematiksel kararlılık (</a:t>
            </a:r>
            <a:r>
              <a:rPr lang="tr-TR" dirty="0" err="1"/>
              <a:t>numerically</a:t>
            </a:r>
            <a:r>
              <a:rPr lang="tr-TR" dirty="0"/>
              <a:t> </a:t>
            </a:r>
            <a:r>
              <a:rPr lang="tr-TR" dirty="0" err="1"/>
              <a:t>stable</a:t>
            </a:r>
            <a:r>
              <a:rPr lang="tr-TR" dirty="0"/>
              <a:t>) için doğrudan </a:t>
            </a:r>
            <a:r>
              <a:rPr lang="tr-TR" dirty="0" err="1"/>
              <a:t>Logits</a:t>
            </a:r>
            <a:r>
              <a:rPr lang="tr-TR" dirty="0"/>
              <a:t> ürettik (</a:t>
            </a:r>
            <a:r>
              <a:rPr lang="tr-TR" dirty="0" err="1"/>
              <a:t>BCEWithLogitsLoss</a:t>
            </a:r>
            <a:r>
              <a:rPr lang="tr-TR" dirty="0"/>
              <a:t>).</a:t>
            </a:r>
          </a:p>
          <a:p>
            <a:r>
              <a:rPr lang="tr-TR" b="1" dirty="0"/>
              <a:t>Gizli Katmanlarda (</a:t>
            </a:r>
            <a:r>
              <a:rPr lang="tr-TR" b="1" dirty="0" err="1"/>
              <a:t>Hidden</a:t>
            </a:r>
            <a:r>
              <a:rPr lang="tr-TR" b="1" dirty="0"/>
              <a:t> </a:t>
            </a:r>
            <a:r>
              <a:rPr lang="tr-TR" b="1" dirty="0" err="1"/>
              <a:t>Layers</a:t>
            </a:r>
            <a:r>
              <a:rPr lang="tr-TR" b="1" dirty="0"/>
              <a:t>):</a:t>
            </a:r>
            <a:r>
              <a:rPr lang="tr-TR" dirty="0"/>
              <a:t> Derin öğrenme endüstri standardı olan </a:t>
            </a:r>
            <a:r>
              <a:rPr lang="tr-TR" b="1" dirty="0" err="1"/>
              <a:t>ReLU</a:t>
            </a:r>
            <a:r>
              <a:rPr lang="tr-TR" dirty="0"/>
              <a:t> (</a:t>
            </a:r>
            <a:r>
              <a:rPr lang="tr-TR" dirty="0" err="1"/>
              <a:t>Rectified</a:t>
            </a:r>
            <a:r>
              <a:rPr lang="tr-TR" dirty="0"/>
              <a:t> </a:t>
            </a:r>
            <a:r>
              <a:rPr lang="tr-TR" dirty="0" err="1"/>
              <a:t>Linear</a:t>
            </a:r>
            <a:r>
              <a:rPr lang="tr-TR" dirty="0"/>
              <a:t> </a:t>
            </a:r>
            <a:r>
              <a:rPr lang="tr-TR" dirty="0" err="1"/>
              <a:t>Unit</a:t>
            </a:r>
            <a:r>
              <a:rPr lang="tr-TR" dirty="0"/>
              <a:t>) aktivasyonunu kullanarak ağın iskeletini kurduk.</a:t>
            </a:r>
          </a:p>
          <a:p>
            <a:endParaRPr lang="tr-TR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5919C524-3226-49F7-2BF2-D305DABC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735" y="1500229"/>
            <a:ext cx="6382265" cy="4535153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DCB37AB5-67BA-1666-247C-F51BDA68B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430" y="5237747"/>
            <a:ext cx="514422" cy="51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2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1B9DC40-3457-9058-43FF-05F26B6B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1780"/>
          </a:xfrm>
        </p:spPr>
        <p:txBody>
          <a:bodyPr>
            <a:noAutofit/>
          </a:bodyPr>
          <a:lstStyle/>
          <a:p>
            <a:pPr algn="ctr"/>
            <a:r>
              <a:rPr lang="tr-TR" sz="3600" b="1" dirty="0"/>
              <a:t>Modelin Eğitimi ve 'Erken Durdurma' (</a:t>
            </a:r>
            <a:r>
              <a:rPr lang="tr-TR" sz="3600" b="1" dirty="0" err="1"/>
              <a:t>Early</a:t>
            </a:r>
            <a:r>
              <a:rPr lang="tr-TR" sz="3600" b="1" dirty="0"/>
              <a:t> </a:t>
            </a:r>
            <a:r>
              <a:rPr lang="tr-TR" sz="3600" b="1" dirty="0" err="1"/>
              <a:t>Stopping</a:t>
            </a:r>
            <a:r>
              <a:rPr lang="tr-TR" sz="3600" b="1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049F7E-D069-34A4-D917-803B74CB52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7148" y="1330742"/>
            <a:ext cx="6316579" cy="5006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2000" b="1" dirty="0"/>
              <a:t>Büyük Tehlike: Aşırı Öğrenme (</a:t>
            </a:r>
            <a:r>
              <a:rPr lang="tr-TR" sz="2000" b="1" dirty="0" err="1"/>
              <a:t>Overfitting</a:t>
            </a:r>
            <a:r>
              <a:rPr lang="tr-TR" sz="2000" b="1" dirty="0"/>
              <a:t>): </a:t>
            </a:r>
            <a:r>
              <a:rPr lang="tr-TR" sz="2000" dirty="0"/>
              <a:t>Eğitim sırasında, yapay sinir ağları tıbbi verilerdeki gürültüleri (gereksiz detayları) "kural" sanıp ezberlemeye meyillidir.</a:t>
            </a:r>
          </a:p>
          <a:p>
            <a:r>
              <a:rPr lang="tr-TR" sz="2000" b="1" dirty="0"/>
              <a:t>İlk Deneyim: </a:t>
            </a:r>
            <a:r>
              <a:rPr lang="tr-TR" sz="2000" dirty="0"/>
              <a:t>İlk 100 </a:t>
            </a:r>
            <a:r>
              <a:rPr lang="tr-TR" sz="2000" dirty="0" err="1"/>
              <a:t>epoch'luk</a:t>
            </a:r>
            <a:r>
              <a:rPr lang="tr-TR" sz="2000" dirty="0"/>
              <a:t> eğitimimizde, ağın 30. adımdan sonra eğitim verisini ezberlediğini, test verisinde ise çuvalladığını (</a:t>
            </a:r>
            <a:r>
              <a:rPr lang="tr-TR" sz="2000" dirty="0" err="1"/>
              <a:t>Val</a:t>
            </a:r>
            <a:r>
              <a:rPr lang="tr-TR" sz="2000" dirty="0"/>
              <a:t> </a:t>
            </a:r>
            <a:r>
              <a:rPr lang="tr-TR" sz="2000" dirty="0" err="1"/>
              <a:t>Loss'un</a:t>
            </a:r>
            <a:r>
              <a:rPr lang="tr-TR" sz="2000" dirty="0"/>
              <a:t> fırladığını) tespit ettik.</a:t>
            </a:r>
          </a:p>
          <a:p>
            <a:r>
              <a:rPr lang="tr-TR" sz="2000" b="1" dirty="0"/>
              <a:t>Zırhlandırma Çözümü (</a:t>
            </a:r>
            <a:r>
              <a:rPr lang="tr-TR" sz="2000" b="1" dirty="0" err="1"/>
              <a:t>Early</a:t>
            </a:r>
            <a:r>
              <a:rPr lang="tr-TR" sz="2000" b="1" dirty="0"/>
              <a:t> </a:t>
            </a:r>
            <a:r>
              <a:rPr lang="tr-TR" sz="2000" b="1" dirty="0" err="1"/>
              <a:t>Stopping</a:t>
            </a:r>
            <a:r>
              <a:rPr lang="tr-TR" sz="2000" b="1" dirty="0"/>
              <a:t>): </a:t>
            </a:r>
            <a:r>
              <a:rPr lang="tr-TR" sz="2000" dirty="0"/>
              <a:t>* Eğitimi körü körüne 100 </a:t>
            </a:r>
            <a:r>
              <a:rPr lang="tr-TR" sz="2000" dirty="0" err="1"/>
              <a:t>epoch</a:t>
            </a:r>
            <a:r>
              <a:rPr lang="tr-TR" sz="2000" dirty="0"/>
              <a:t> beklemek yerine "</a:t>
            </a:r>
            <a:r>
              <a:rPr lang="tr-TR" sz="2000" dirty="0" err="1"/>
              <a:t>Patience</a:t>
            </a:r>
            <a:r>
              <a:rPr lang="tr-TR" sz="2000" dirty="0"/>
              <a:t>" (Sabır) mekanizması kurduk.</a:t>
            </a:r>
            <a:br>
              <a:rPr lang="tr-TR" sz="2000" dirty="0"/>
            </a:br>
            <a:endParaRPr lang="tr-TR" sz="2000" dirty="0"/>
          </a:p>
          <a:p>
            <a:r>
              <a:rPr lang="tr-TR" sz="2000" dirty="0"/>
              <a:t>Modelin performansı 15 adım boyunca iyileşmeyince, kodumuz 55. </a:t>
            </a:r>
            <a:r>
              <a:rPr lang="tr-TR" sz="2000" dirty="0" err="1"/>
              <a:t>epoch'ta</a:t>
            </a:r>
            <a:r>
              <a:rPr lang="tr-TR" sz="2000" dirty="0"/>
              <a:t> eğitimi otomatik olarak kesti.</a:t>
            </a:r>
          </a:p>
          <a:p>
            <a:r>
              <a:rPr lang="tr-TR" sz="2000" dirty="0"/>
              <a:t>En başarılı olduğu anı (40. </a:t>
            </a:r>
            <a:r>
              <a:rPr lang="tr-TR" sz="2000" dirty="0" err="1"/>
              <a:t>epoch</a:t>
            </a:r>
            <a:r>
              <a:rPr lang="tr-TR" sz="2000" dirty="0"/>
              <a:t> ağırlıklarını) belleğinden çağırıp modele yükledi.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B84DF0C-8E6F-6B07-633C-3900EDD99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27" y="1106906"/>
            <a:ext cx="4914691" cy="2775283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EF4F5CCE-36AD-C8F3-6ADC-B091E1A9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229" y="3882189"/>
            <a:ext cx="4914189" cy="297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4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41A882-9570-322A-A4EE-C1F7548FD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1351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/>
              <a:t>Aktivasyon Fonksiyonu Deneyleri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D4E8627-C045-A3C8-DF1C-7CCC5B8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9295"/>
            <a:ext cx="5099539" cy="4944452"/>
          </a:xfrm>
        </p:spPr>
        <p:txBody>
          <a:bodyPr>
            <a:normAutofit fontScale="47500" lnSpcReduction="20000"/>
          </a:bodyPr>
          <a:lstStyle/>
          <a:p>
            <a:r>
              <a:rPr lang="tr-TR" sz="4000" b="1" dirty="0"/>
              <a:t>Hedef: </a:t>
            </a:r>
            <a:r>
              <a:rPr lang="tr-TR" sz="4000" dirty="0"/>
              <a:t>Ağımızın karar filtreleri olan aktivasyon fonksiyonlarını, kendi tıbbi verimiz üzerinde yarıştırdık.</a:t>
            </a:r>
          </a:p>
          <a:p>
            <a:r>
              <a:rPr lang="tr-TR" sz="4000" b="1" dirty="0"/>
              <a:t>Sigmoid (Mor Kesik Çizgi): </a:t>
            </a:r>
            <a:r>
              <a:rPr lang="tr-TR" sz="4000" dirty="0"/>
              <a:t>Öğrenme hızı çok yavaş kaldı. "Kaybolan Gradyan" (</a:t>
            </a:r>
            <a:r>
              <a:rPr lang="tr-TR" sz="4000" dirty="0" err="1"/>
              <a:t>Vanishing</a:t>
            </a:r>
            <a:r>
              <a:rPr lang="tr-TR" sz="4000" dirty="0"/>
              <a:t> </a:t>
            </a:r>
            <a:r>
              <a:rPr lang="tr-TR" sz="4000" dirty="0" err="1"/>
              <a:t>Gradient</a:t>
            </a:r>
            <a:r>
              <a:rPr lang="tr-TR" sz="4000" dirty="0"/>
              <a:t>) problemine takıldığı için 0.20'nin altına inmesi çok uzun sürdü.</a:t>
            </a:r>
          </a:p>
          <a:p>
            <a:r>
              <a:rPr lang="tr-TR" sz="4000" b="1" dirty="0" err="1"/>
              <a:t>ReLU</a:t>
            </a:r>
            <a:r>
              <a:rPr lang="tr-TR" sz="4000" b="1" dirty="0"/>
              <a:t> (Yeşil Kalın Çizgi): </a:t>
            </a:r>
            <a:r>
              <a:rPr lang="tr-TR" sz="4000" dirty="0"/>
              <a:t>Modern derin öğrenmenin standardıdır. Kaybı hızlıca düşürse de, sığ (</a:t>
            </a:r>
            <a:r>
              <a:rPr lang="tr-TR" sz="4000" dirty="0" err="1"/>
              <a:t>shallow</a:t>
            </a:r>
            <a:r>
              <a:rPr lang="tr-TR" sz="4000" dirty="0"/>
              <a:t>) ağımızda vadinin dibinde ufak dalgalanmalar (kararsızlıklar) yaşadı.</a:t>
            </a:r>
          </a:p>
          <a:p>
            <a:r>
              <a:rPr lang="tr-TR" sz="4000" b="1" dirty="0" err="1"/>
              <a:t>Tanh</a:t>
            </a:r>
            <a:r>
              <a:rPr lang="tr-TR" sz="4000" b="1" dirty="0"/>
              <a:t> (Turuncu Noktalı Çizgi): </a:t>
            </a:r>
            <a:r>
              <a:rPr lang="tr-TR" sz="4000" dirty="0"/>
              <a:t>Eğitim aşamasının mutlak galibi. Çıktılarının [-1, 1] aralığında sıfır merkezli (</a:t>
            </a:r>
            <a:r>
              <a:rPr lang="tr-TR" sz="4000" dirty="0" err="1"/>
              <a:t>zero-centered</a:t>
            </a:r>
            <a:r>
              <a:rPr lang="tr-TR" sz="4000" dirty="0"/>
              <a:t>) olması, </a:t>
            </a:r>
            <a:r>
              <a:rPr lang="tr-TR" sz="4000" dirty="0" err="1"/>
              <a:t>StandardScaler</a:t>
            </a:r>
            <a:r>
              <a:rPr lang="tr-TR" sz="4000" dirty="0"/>
              <a:t> ile dönüştürdüğümüz verimizle kusursuz bir uyum yakaladı ve sıfır dalgalanmayla en düşük kayıp noktasına (0.15) oturdu.</a:t>
            </a:r>
          </a:p>
          <a:p>
            <a:endParaRPr lang="tr-TR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7E69E098-94B6-8222-98E6-AAB7CE49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30" y="1825625"/>
            <a:ext cx="5379681" cy="403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30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50058C-C308-7F89-EAE5-A586FA4FA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421"/>
          </a:xfrm>
        </p:spPr>
        <p:txBody>
          <a:bodyPr/>
          <a:lstStyle/>
          <a:p>
            <a:pPr algn="ctr"/>
            <a:r>
              <a:rPr lang="tr-TR" dirty="0"/>
              <a:t>Neden Adam </a:t>
            </a:r>
            <a:r>
              <a:rPr lang="tr-TR" dirty="0" err="1"/>
              <a:t>Optimizatörü</a:t>
            </a:r>
            <a:r>
              <a:rPr lang="tr-TR" dirty="0"/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9BE5CF-0101-7489-AA67-B4EFF9DA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5254" cy="4351338"/>
          </a:xfrm>
        </p:spPr>
        <p:txBody>
          <a:bodyPr>
            <a:normAutofit fontScale="70000" lnSpcReduction="20000"/>
          </a:bodyPr>
          <a:lstStyle/>
          <a:p>
            <a:r>
              <a:rPr lang="tr-TR" b="1" dirty="0"/>
              <a:t>Optimizasyonun Amacı: </a:t>
            </a:r>
            <a:r>
              <a:rPr lang="tr-TR" dirty="0"/>
              <a:t>Ağımızın, en düşük hata (</a:t>
            </a:r>
            <a:r>
              <a:rPr lang="tr-TR" dirty="0" err="1"/>
              <a:t>Loss</a:t>
            </a:r>
            <a:r>
              <a:rPr lang="tr-TR" dirty="0"/>
              <a:t>) noktasına inmek için kullandığı stratejiyi (</a:t>
            </a:r>
            <a:r>
              <a:rPr lang="tr-TR" dirty="0" err="1"/>
              <a:t>Gradient</a:t>
            </a:r>
            <a:r>
              <a:rPr lang="tr-TR" dirty="0"/>
              <a:t> </a:t>
            </a:r>
            <a:r>
              <a:rPr lang="tr-TR" dirty="0" err="1"/>
              <a:t>Descent</a:t>
            </a:r>
            <a:r>
              <a:rPr lang="tr-TR" dirty="0"/>
              <a:t>) belirlemek.</a:t>
            </a:r>
          </a:p>
          <a:p>
            <a:r>
              <a:rPr lang="tr-TR" b="1" dirty="0"/>
              <a:t>SGD (Kırmızı Kesik Çizgi): </a:t>
            </a:r>
            <a:r>
              <a:rPr lang="tr-TR" dirty="0"/>
              <a:t>Klasik yöntemdir. Tıbbi verimizdeki karmaşık yapılarda yönünü kaybetti, yavaş ve kararsız bir öğrenme sergiledi.</a:t>
            </a:r>
          </a:p>
          <a:p>
            <a:r>
              <a:rPr lang="tr-TR" b="1" dirty="0"/>
              <a:t>Adam - Çok Hızlı (Mavi Noktalı Çizgi, LR=0.01): </a:t>
            </a:r>
            <a:r>
              <a:rPr lang="tr-TR" dirty="0"/>
              <a:t>Hızla dibe indi ancak adımları çok büyük olduğu için minimum noktayı sürekli ıskaladı (</a:t>
            </a:r>
            <a:r>
              <a:rPr lang="tr-TR" dirty="0" err="1"/>
              <a:t>Overshooting</a:t>
            </a:r>
            <a:r>
              <a:rPr lang="tr-TR" dirty="0"/>
              <a:t>) ve dalgalı bir seyir izledi.</a:t>
            </a:r>
          </a:p>
          <a:p>
            <a:r>
              <a:rPr lang="tr-TR" b="1" dirty="0"/>
              <a:t>Adam - Optimum (Yeşil Kalın Çizgi, LR=0.001) [SEÇİLEN]: </a:t>
            </a:r>
            <a:r>
              <a:rPr lang="tr-TR" dirty="0"/>
              <a:t>Hız ve dengeyi en iyi kuran ayar oldu. Hedefi ıskalamadan en düşük kayıp noktasına pürüzsüz bir şekilde yerleşti.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1909AF3-E5D3-B2C0-20EB-1018C3372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67" y="2148308"/>
            <a:ext cx="6032678" cy="370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0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5470CD-FC34-E5D9-121D-43F42B6D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907"/>
          </a:xfrm>
        </p:spPr>
        <p:txBody>
          <a:bodyPr>
            <a:noAutofit/>
          </a:bodyPr>
          <a:lstStyle/>
          <a:p>
            <a:pPr algn="ctr"/>
            <a:r>
              <a:rPr lang="tr-TR" sz="3600" b="1" dirty="0"/>
              <a:t>Modelin Gerçek Hayat Başarısı (Karmaşıklık Matrisi)(</a:t>
            </a:r>
            <a:r>
              <a:rPr lang="tr-TR" sz="3600" b="1" dirty="0" err="1"/>
              <a:t>ReLU</a:t>
            </a:r>
            <a:r>
              <a:rPr lang="tr-TR" sz="3600" b="1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DB6D0E-AE03-D328-7070-E92B37B87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1959"/>
            <a:ext cx="4792579" cy="3673642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/>
              <a:t>Hedef: </a:t>
            </a:r>
            <a:r>
              <a:rPr lang="tr-TR" dirty="0"/>
              <a:t>Hastayı (Hipotiroidi) Kaçırmamak!</a:t>
            </a:r>
          </a:p>
          <a:p>
            <a:r>
              <a:rPr lang="tr-TR" b="1" dirty="0" err="1"/>
              <a:t>Recall</a:t>
            </a:r>
            <a:r>
              <a:rPr lang="tr-TR" b="1" dirty="0"/>
              <a:t> (Duyarlılık) Oranı: </a:t>
            </a:r>
            <a:r>
              <a:rPr lang="tr-TR" dirty="0"/>
              <a:t>%97</a:t>
            </a:r>
          </a:p>
          <a:p>
            <a:r>
              <a:rPr lang="tr-TR" b="1" dirty="0"/>
              <a:t>Sonuçların Analizi:</a:t>
            </a:r>
            <a:endParaRPr lang="tr-TR" dirty="0"/>
          </a:p>
          <a:p>
            <a:r>
              <a:rPr lang="tr-TR" dirty="0"/>
              <a:t>Test setindeki hiç görmediği 29 gerçek hastanın 28'ini doğru tespit etti.</a:t>
            </a:r>
          </a:p>
          <a:p>
            <a:r>
              <a:rPr lang="tr-TR" dirty="0"/>
              <a:t>349 sağlıklı insanın ise 344'üne doğru bir şekilde "Sağlıklı" dedi.</a:t>
            </a:r>
          </a:p>
          <a:p>
            <a:r>
              <a:rPr lang="tr-TR" dirty="0"/>
              <a:t>Tıbbi Karar: Model, yüksek riskli hastaları gözden kaçırmama konusunda son derece güvenilir bir performans sergilemiştir.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5353848-1F14-A012-E002-4B4A65E56FDE}"/>
              </a:ext>
            </a:extLst>
          </p:cNvPr>
          <p:cNvSpPr txBox="1"/>
          <p:nvPr/>
        </p:nvSpPr>
        <p:spPr>
          <a:xfrm>
            <a:off x="962526" y="100063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/>
              <a:t>--- TEST SETİ PERFORMANS RAPORU ---</a:t>
            </a:r>
          </a:p>
          <a:p>
            <a:r>
              <a:rPr lang="tr-TR" sz="1400" dirty="0"/>
              <a:t>                 </a:t>
            </a:r>
            <a:r>
              <a:rPr lang="tr-TR" sz="1400" dirty="0" err="1"/>
              <a:t>precision</a:t>
            </a:r>
            <a:r>
              <a:rPr lang="tr-TR" sz="1400" dirty="0"/>
              <a:t>    </a:t>
            </a:r>
            <a:r>
              <a:rPr lang="tr-TR" sz="1400" dirty="0" err="1"/>
              <a:t>recall</a:t>
            </a:r>
            <a:r>
              <a:rPr lang="tr-TR" sz="1400" dirty="0"/>
              <a:t>  f1-score   </a:t>
            </a:r>
            <a:r>
              <a:rPr lang="tr-TR" sz="1400" dirty="0" err="1"/>
              <a:t>support</a:t>
            </a:r>
            <a:endParaRPr lang="tr-TR" sz="1400" dirty="0"/>
          </a:p>
          <a:p>
            <a:endParaRPr lang="tr-TR" sz="1400" dirty="0"/>
          </a:p>
          <a:p>
            <a:r>
              <a:rPr lang="tr-TR" sz="1400" dirty="0"/>
              <a:t>   Sağlıklı (0)       1.00      0.98      0.99       349</a:t>
            </a:r>
          </a:p>
          <a:p>
            <a:r>
              <a:rPr lang="tr-TR" sz="1400" dirty="0"/>
              <a:t>Hipotiroidi (1)       0.82      0.97      0.89        29</a:t>
            </a:r>
          </a:p>
          <a:p>
            <a:r>
              <a:rPr lang="tr-TR" sz="1400" dirty="0"/>
              <a:t> </a:t>
            </a:r>
          </a:p>
          <a:p>
            <a:r>
              <a:rPr lang="tr-TR" sz="1400" dirty="0"/>
              <a:t>       </a:t>
            </a:r>
            <a:r>
              <a:rPr lang="tr-TR" sz="1400" dirty="0" err="1"/>
              <a:t>accuracy</a:t>
            </a:r>
            <a:r>
              <a:rPr lang="tr-TR" sz="1400" dirty="0"/>
              <a:t>                                     0.98       378</a:t>
            </a:r>
          </a:p>
          <a:p>
            <a:r>
              <a:rPr lang="tr-TR" sz="1400" dirty="0"/>
              <a:t>      </a:t>
            </a:r>
            <a:r>
              <a:rPr lang="tr-TR" sz="1400" dirty="0" err="1"/>
              <a:t>macro</a:t>
            </a:r>
            <a:r>
              <a:rPr lang="tr-TR" sz="1400" dirty="0"/>
              <a:t> </a:t>
            </a:r>
            <a:r>
              <a:rPr lang="tr-TR" sz="1400" dirty="0" err="1"/>
              <a:t>avg</a:t>
            </a:r>
            <a:r>
              <a:rPr lang="tr-TR" sz="1400" dirty="0"/>
              <a:t>       0.91      0.97      0.94       378</a:t>
            </a:r>
          </a:p>
          <a:p>
            <a:r>
              <a:rPr lang="tr-TR" sz="1400" dirty="0"/>
              <a:t>   </a:t>
            </a:r>
            <a:r>
              <a:rPr lang="tr-TR" sz="1400" dirty="0" err="1"/>
              <a:t>weighted</a:t>
            </a:r>
            <a:r>
              <a:rPr lang="tr-TR" sz="1400" dirty="0"/>
              <a:t> </a:t>
            </a:r>
            <a:r>
              <a:rPr lang="tr-TR" sz="1400" dirty="0" err="1"/>
              <a:t>avg</a:t>
            </a:r>
            <a:r>
              <a:rPr lang="tr-TR" sz="1400" dirty="0"/>
              <a:t>       0.98      0.98      0.98       378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639B47D-74CC-F45B-B56C-1AD4A3FF9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045" y="1328031"/>
            <a:ext cx="5976835" cy="499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6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BAA483-E385-4FD1-823C-645D55F3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139"/>
            <a:ext cx="10515600" cy="865798"/>
          </a:xfrm>
        </p:spPr>
        <p:txBody>
          <a:bodyPr>
            <a:normAutofit fontScale="90000"/>
          </a:bodyPr>
          <a:lstStyle/>
          <a:p>
            <a:pPr algn="ctr"/>
            <a:r>
              <a:rPr lang="tr-TR" b="1" dirty="0"/>
              <a:t>Modelin Gerçek Hayat Başarısı (Karmaşıklık Matrisi)(</a:t>
            </a:r>
            <a:r>
              <a:rPr lang="tr-TR" b="1" dirty="0" err="1"/>
              <a:t>tanh</a:t>
            </a:r>
            <a:r>
              <a:rPr lang="tr-TR" b="1" dirty="0"/>
              <a:t>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C953C5-9DB5-41A3-38F1-68768E07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54" y="3367453"/>
            <a:ext cx="4886939" cy="3138854"/>
          </a:xfrm>
        </p:spPr>
        <p:txBody>
          <a:bodyPr>
            <a:normAutofit fontScale="40000" lnSpcReduction="20000"/>
          </a:bodyPr>
          <a:lstStyle/>
          <a:p>
            <a:r>
              <a:rPr lang="tr-TR" sz="3000" b="1" dirty="0"/>
              <a:t>Gerçek Hastayı Yakalama (</a:t>
            </a:r>
            <a:r>
              <a:rPr lang="tr-TR" sz="3000" b="1" dirty="0" err="1"/>
              <a:t>Recall</a:t>
            </a:r>
            <a:r>
              <a:rPr lang="tr-TR" sz="3000" b="1" dirty="0"/>
              <a:t>): </a:t>
            </a:r>
            <a:r>
              <a:rPr lang="tr-TR" sz="3000" dirty="0"/>
              <a:t>%97</a:t>
            </a:r>
          </a:p>
          <a:p>
            <a:r>
              <a:rPr lang="tr-TR" sz="3000" dirty="0"/>
              <a:t>Model, tıpkı </a:t>
            </a:r>
            <a:r>
              <a:rPr lang="tr-TR" sz="3000" dirty="0" err="1"/>
              <a:t>ReLU</a:t>
            </a:r>
            <a:r>
              <a:rPr lang="tr-TR" sz="3000" dirty="0"/>
              <a:t> gibi 29 gerçek hastanın 28'ini yakalayarak "tıbbi güvenlik" testini başarıyla geçmiştir.</a:t>
            </a:r>
          </a:p>
          <a:p>
            <a:r>
              <a:rPr lang="tr-TR" sz="3000" b="1" dirty="0"/>
              <a:t>Kırılma Noktası (Yanlış Alarmlar):</a:t>
            </a:r>
          </a:p>
          <a:p>
            <a:r>
              <a:rPr lang="tr-TR" sz="3000" dirty="0"/>
              <a:t>Model, tamamen sağlıklı olan 9 kişiye gereksiz yere "Hasta" teşhisi koymuştur (</a:t>
            </a:r>
            <a:r>
              <a:rPr lang="tr-TR" sz="3000" dirty="0" err="1"/>
              <a:t>False</a:t>
            </a:r>
            <a:r>
              <a:rPr lang="tr-TR" sz="3000" dirty="0"/>
              <a:t> </a:t>
            </a:r>
            <a:r>
              <a:rPr lang="tr-TR" sz="3000" dirty="0" err="1"/>
              <a:t>Positive</a:t>
            </a:r>
            <a:r>
              <a:rPr lang="tr-TR" sz="3000" dirty="0"/>
              <a:t>).</a:t>
            </a:r>
          </a:p>
          <a:p>
            <a:r>
              <a:rPr lang="tr-TR" sz="3000" b="1" dirty="0"/>
              <a:t>Analitik Neden (Neden Böyle Oldu?):</a:t>
            </a:r>
          </a:p>
          <a:p>
            <a:r>
              <a:rPr lang="tr-TR" sz="3000" dirty="0" err="1"/>
              <a:t>Tanh</a:t>
            </a:r>
            <a:r>
              <a:rPr lang="tr-TR" sz="3000" dirty="0"/>
              <a:t> aktivasyonu eğitim aşamasında "aşırı stabil" bir eğri çizmişti. Bu aşırı garantici matematiksel yapı, gerçek ve karmaşık test verisiyle (sahayla) karşılaştığında karar sınırlarını (</a:t>
            </a:r>
            <a:r>
              <a:rPr lang="tr-TR" sz="3000" dirty="0" err="1"/>
              <a:t>decision</a:t>
            </a:r>
            <a:r>
              <a:rPr lang="tr-TR" sz="3000" dirty="0"/>
              <a:t> </a:t>
            </a:r>
            <a:r>
              <a:rPr lang="tr-TR" sz="3000" dirty="0" err="1"/>
              <a:t>boundary</a:t>
            </a:r>
            <a:r>
              <a:rPr lang="tr-TR" sz="3000" dirty="0"/>
              <a:t>) çok geniş tutmasına sebep oldu.</a:t>
            </a:r>
          </a:p>
          <a:p>
            <a:r>
              <a:rPr lang="tr-TR" sz="3000" b="1" dirty="0"/>
              <a:t>Mühendislik Kararı (Neden Eledik?):</a:t>
            </a:r>
          </a:p>
          <a:p>
            <a:r>
              <a:rPr lang="tr-TR" sz="3000" dirty="0"/>
              <a:t>Model risk almamak adına sağlıklı insanları da hasta sınıfına itmiştir. Hastaları gereksiz strese sokmamak ve ayırt ediciliği artırmak adına, bu model "</a:t>
            </a:r>
            <a:r>
              <a:rPr lang="tr-TR" sz="3000" dirty="0" err="1"/>
              <a:t>Trade-off</a:t>
            </a:r>
            <a:r>
              <a:rPr lang="tr-TR" sz="3000" dirty="0"/>
              <a:t>" (ödünleşim) analizinde elenmiştir.</a:t>
            </a:r>
          </a:p>
          <a:p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418EC1C7-824A-90CA-2053-9E18F83A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801" y="1825625"/>
            <a:ext cx="5507540" cy="4592760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1A2F8392-4D26-3A6A-81F9-D8FA9707A7BB}"/>
              </a:ext>
            </a:extLst>
          </p:cNvPr>
          <p:cNvSpPr txBox="1"/>
          <p:nvPr/>
        </p:nvSpPr>
        <p:spPr>
          <a:xfrm>
            <a:off x="716454" y="953599"/>
            <a:ext cx="50086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--- TEST SETİ PERFORMANS RAPORU ---</a:t>
            </a: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        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precision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recall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f1-score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support</a:t>
            </a:r>
            <a:endParaRPr lang="tr-TR" b="0" i="0" dirty="0">
              <a:solidFill>
                <a:srgbClr val="1F1F1F"/>
              </a:solidFill>
              <a:effectLst/>
              <a:latin typeface="Google Sans Flex"/>
            </a:endParaRPr>
          </a:p>
          <a:p>
            <a:pPr algn="l">
              <a:buNone/>
            </a:pPr>
            <a:endParaRPr lang="tr-TR" b="0" i="0" dirty="0">
              <a:solidFill>
                <a:srgbClr val="1F1F1F"/>
              </a:solidFill>
              <a:effectLst/>
              <a:latin typeface="Google Sans Flex"/>
            </a:endParaRP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Sağlıklı (0)    1.00          0.97           0.99           349</a:t>
            </a: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Hipotiroidi (1) 0.76      0.97           0.85             29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Accuracy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                                    0.97           378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macro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avg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0.88        0.97           0.92            378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weighted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avg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0.98      0.97           0.97            378</a:t>
            </a:r>
          </a:p>
        </p:txBody>
      </p:sp>
    </p:spTree>
    <p:extLst>
      <p:ext uri="{BB962C8B-B14F-4D97-AF65-F5344CB8AC3E}">
        <p14:creationId xmlns:p14="http://schemas.microsoft.com/office/powerpoint/2010/main" val="1947484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014061-4E99-4B68-A5BF-0216AE23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5798"/>
          </a:xfrm>
        </p:spPr>
        <p:txBody>
          <a:bodyPr>
            <a:normAutofit fontScale="90000"/>
          </a:bodyPr>
          <a:lstStyle/>
          <a:p>
            <a:pPr algn="ctr"/>
            <a:r>
              <a:rPr lang="tr-TR" b="1" dirty="0"/>
              <a:t>Modelin Gerçek Hayat Başarısı (Karmaşıklık Matrisi)(sigmoid)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01F9C6-4755-25DA-A3DF-7EC4408B0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085" y="3429000"/>
            <a:ext cx="4331677" cy="2897432"/>
          </a:xfrm>
        </p:spPr>
        <p:txBody>
          <a:bodyPr>
            <a:normAutofit fontScale="40000" lnSpcReduction="20000"/>
          </a:bodyPr>
          <a:lstStyle/>
          <a:p>
            <a:r>
              <a:rPr lang="tr-TR" b="1" dirty="0"/>
              <a:t>Hastayı Yakalama (</a:t>
            </a:r>
            <a:r>
              <a:rPr lang="tr-TR" b="1" dirty="0" err="1"/>
              <a:t>Recall</a:t>
            </a:r>
            <a:r>
              <a:rPr lang="tr-TR" b="1" dirty="0"/>
              <a:t>): </a:t>
            </a:r>
            <a:r>
              <a:rPr lang="tr-TR" dirty="0"/>
              <a:t>%97</a:t>
            </a:r>
          </a:p>
          <a:p>
            <a:r>
              <a:rPr lang="tr-TR" dirty="0"/>
              <a:t>Model 28 gerçek hastayı tespit etmeyi başarsa da, asıl çuvalladığı nokta ayırt edicilik kapasitesi oldu.</a:t>
            </a:r>
          </a:p>
          <a:p>
            <a:r>
              <a:rPr lang="tr-TR" b="1" dirty="0"/>
              <a:t>En Yüksek Yanlış Alarm (Kırılma Noktası):</a:t>
            </a:r>
          </a:p>
          <a:p>
            <a:r>
              <a:rPr lang="tr-TR" dirty="0"/>
              <a:t>Tam 10 sağlıklı insana gereksiz yere "Hasta" diyerek, üç model arasındaki en güvensiz tabloyu çizdi.</a:t>
            </a:r>
          </a:p>
          <a:p>
            <a:r>
              <a:rPr lang="tr-TR" b="1" dirty="0"/>
              <a:t>Teorinin İspatı (Neden Böyle Oldu?):</a:t>
            </a:r>
          </a:p>
          <a:p>
            <a:r>
              <a:rPr lang="tr-TR" dirty="0"/>
              <a:t>Sadece eğitim (Train) grafiğinde değil, gerçek sahada da Kaybolan Gradyan (</a:t>
            </a:r>
            <a:r>
              <a:rPr lang="tr-TR" dirty="0" err="1"/>
              <a:t>Vanishing</a:t>
            </a:r>
            <a:r>
              <a:rPr lang="tr-TR" dirty="0"/>
              <a:t> </a:t>
            </a:r>
            <a:r>
              <a:rPr lang="tr-TR" dirty="0" err="1"/>
              <a:t>Gradient</a:t>
            </a:r>
            <a:r>
              <a:rPr lang="tr-TR" dirty="0"/>
              <a:t>) probleminin bedelini ödedik. Model veriyi net öğrenemediği için teşhis sınırları "bulanık" kaldı ve çok fazla hata yaptı.</a:t>
            </a:r>
          </a:p>
          <a:p>
            <a:r>
              <a:rPr lang="tr-TR" b="1" dirty="0"/>
              <a:t>Mühendislik Kararı:</a:t>
            </a:r>
          </a:p>
          <a:p>
            <a:r>
              <a:rPr lang="tr-TR" dirty="0"/>
              <a:t>Ayırt etme yeteneği en zayıf ve en bulanık model olduğu için kesin olarak elenmiştir.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810218E-F4BB-27F7-E3AB-EC1B32B9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123" y="1608992"/>
            <a:ext cx="5565263" cy="4656648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01538940-A737-E7AA-2FD8-0DC2406F83BD}"/>
              </a:ext>
            </a:extLst>
          </p:cNvPr>
          <p:cNvSpPr txBox="1"/>
          <p:nvPr/>
        </p:nvSpPr>
        <p:spPr>
          <a:xfrm>
            <a:off x="838200" y="1120676"/>
            <a:ext cx="4991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--- TEST SETİ PERFORMANS RAPORU ---</a:t>
            </a: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         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precision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recall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f1-score    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support</a:t>
            </a:r>
            <a:endParaRPr lang="tr-TR" b="0" i="0" dirty="0">
              <a:solidFill>
                <a:srgbClr val="1F1F1F"/>
              </a:solidFill>
              <a:effectLst/>
              <a:latin typeface="Google Sans Flex"/>
            </a:endParaRPr>
          </a:p>
          <a:p>
            <a:pPr algn="l">
              <a:buNone/>
            </a:pPr>
            <a:endParaRPr lang="tr-TR" b="0" i="0" dirty="0">
              <a:solidFill>
                <a:srgbClr val="1F1F1F"/>
              </a:solidFill>
              <a:effectLst/>
              <a:latin typeface="Google Sans Flex"/>
            </a:endParaRP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Sağlıklı (0)   1.00               0.97         0.98          349</a:t>
            </a:r>
          </a:p>
          <a:p>
            <a:pPr algn="l">
              <a:buNone/>
            </a:pP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Hipotiroidi (1) 0.74           0.97        0.84            29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Accuracy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                                       0.97          378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macro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avg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    0.87              0.97       0.91          378</a:t>
            </a:r>
          </a:p>
          <a:p>
            <a:pPr algn="l">
              <a:buNone/>
            </a:pP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weighted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</a:t>
            </a:r>
            <a:r>
              <a:rPr lang="tr-TR" b="0" i="0" dirty="0" err="1">
                <a:solidFill>
                  <a:srgbClr val="1F1F1F"/>
                </a:solidFill>
                <a:effectLst/>
                <a:latin typeface="Google Sans Flex"/>
              </a:rPr>
              <a:t>avg</a:t>
            </a:r>
            <a:r>
              <a:rPr lang="tr-TR" b="0" i="0" dirty="0">
                <a:solidFill>
                  <a:srgbClr val="1F1F1F"/>
                </a:solidFill>
                <a:effectLst/>
                <a:latin typeface="Google Sans Flex"/>
              </a:rPr>
              <a:t> 0.98            0.97       0.97           378</a:t>
            </a:r>
          </a:p>
        </p:txBody>
      </p:sp>
    </p:spTree>
    <p:extLst>
      <p:ext uri="{BB962C8B-B14F-4D97-AF65-F5344CB8AC3E}">
        <p14:creationId xmlns:p14="http://schemas.microsoft.com/office/powerpoint/2010/main" val="2140101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11E735-4CB8-E4D7-340F-41ADBEA52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4496"/>
          </a:xfrm>
        </p:spPr>
        <p:txBody>
          <a:bodyPr/>
          <a:lstStyle/>
          <a:p>
            <a:pPr algn="ctr"/>
            <a:r>
              <a:rPr lang="tr-TR" dirty="0"/>
              <a:t>Modelin Ayırt Edicilik Gücü (ROC Eğrisi)(</a:t>
            </a:r>
            <a:r>
              <a:rPr lang="tr-TR" dirty="0" err="1"/>
              <a:t>ReLU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EE8FD2-4D45-7185-E123-1AD7B9F0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5905" cy="4351338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/>
              <a:t>ROC Eğrisi: </a:t>
            </a:r>
            <a:r>
              <a:rPr lang="tr-TR" dirty="0"/>
              <a:t>Modelin "Gerçek Hastaları Yakalama (TPR)" ile "Sağlıklıya Hasta Deme (FPR)" oranları arasındaki dengeyi ölçer.</a:t>
            </a:r>
          </a:p>
          <a:p>
            <a:r>
              <a:rPr lang="tr-TR" b="1" dirty="0"/>
              <a:t>Mükemmel Ayırt Edicilik: </a:t>
            </a:r>
            <a:r>
              <a:rPr lang="tr-TR" dirty="0"/>
              <a:t>Turuncu eğrinin sol üst köşeye yapışık olması, modelin hata payının sıfıra yakın olduğunu gösterir.</a:t>
            </a:r>
          </a:p>
          <a:p>
            <a:r>
              <a:rPr lang="tr-TR" b="1" dirty="0"/>
              <a:t>AUC Skoru: </a:t>
            </a:r>
            <a:r>
              <a:rPr lang="tr-TR" dirty="0"/>
              <a:t>0.972</a:t>
            </a:r>
          </a:p>
          <a:p>
            <a:r>
              <a:rPr lang="tr-TR" dirty="0"/>
              <a:t>Model, rastgele seçilen bir hastayı, rastgele seçilen bir sağlıklı insandan %97.2 ihtimalle doğru ayırt edebilir.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51B6FA0-A459-27B7-ACC0-0BAC9FE8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305" y="1328061"/>
            <a:ext cx="5787435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87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49E04A-4EB6-628F-C88E-33C521F1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Modelin Ayırt Edicilik Gücü (ROC Eğrisi)(</a:t>
            </a:r>
            <a:r>
              <a:rPr lang="tr-TR" dirty="0" err="1"/>
              <a:t>tanh</a:t>
            </a:r>
            <a:r>
              <a:rPr lang="tr-TR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72EC77-952F-2907-F281-45B7301F4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86654" cy="4513629"/>
          </a:xfrm>
        </p:spPr>
        <p:txBody>
          <a:bodyPr>
            <a:normAutofit fontScale="62500" lnSpcReduction="20000"/>
          </a:bodyPr>
          <a:lstStyle/>
          <a:p>
            <a:r>
              <a:rPr lang="tr-TR" b="1" dirty="0" err="1"/>
              <a:t>Tanh</a:t>
            </a:r>
            <a:r>
              <a:rPr lang="tr-TR" b="1" dirty="0"/>
              <a:t> (Elenen Model) ROC Eğrisi İçin Metin Önerisi:</a:t>
            </a:r>
            <a:endParaRPr lang="tr-TR" dirty="0"/>
          </a:p>
          <a:p>
            <a:r>
              <a:rPr lang="tr-TR" b="1" dirty="0"/>
              <a:t>Ayırt Edicilikte Düşüş:</a:t>
            </a:r>
            <a:endParaRPr lang="tr-TR" dirty="0"/>
          </a:p>
          <a:p>
            <a:pPr lvl="1"/>
            <a:r>
              <a:rPr lang="tr-TR" dirty="0"/>
              <a:t>Turuncu eğrinin sol üst köşeden (kusursuzluk noktasından) aşağı doğru hafif kırılmalar yaşadığını görüyoruz. Model sınırları çizerken zorlanmıştır.</a:t>
            </a:r>
          </a:p>
          <a:p>
            <a:r>
              <a:rPr lang="tr-TR" b="1" dirty="0"/>
              <a:t>AUC Skoru: 0.965</a:t>
            </a:r>
            <a:endParaRPr lang="tr-TR" dirty="0"/>
          </a:p>
          <a:p>
            <a:pPr lvl="1"/>
            <a:r>
              <a:rPr lang="tr-TR" dirty="0"/>
              <a:t>Modelin rastgele bir hasta ile sağlıklı insanı doğru ayırt etme ihtimali </a:t>
            </a:r>
            <a:r>
              <a:rPr lang="tr-TR" b="1" dirty="0"/>
              <a:t>%96.5'e gerilemiştir</a:t>
            </a:r>
            <a:r>
              <a:rPr lang="tr-TR" dirty="0"/>
              <a:t> (</a:t>
            </a:r>
            <a:r>
              <a:rPr lang="tr-TR" dirty="0" err="1"/>
              <a:t>ReLU</a:t>
            </a:r>
            <a:r>
              <a:rPr lang="tr-TR" dirty="0"/>
              <a:t> modelimizde bu oran %97.2 idi).</a:t>
            </a:r>
          </a:p>
          <a:p>
            <a:r>
              <a:rPr lang="tr-TR" b="1" dirty="0"/>
              <a:t>Performans Kaybının Nedeni:</a:t>
            </a:r>
            <a:endParaRPr lang="tr-TR" dirty="0"/>
          </a:p>
          <a:p>
            <a:pPr lvl="1"/>
            <a:r>
              <a:rPr lang="tr-TR" dirty="0"/>
              <a:t>Modelin eğitimdeki aşırı garantici ("ezberciye yakın") kararlılığı, daha önce hiç görmediği kompleks test verisiyle karşılaşınca </a:t>
            </a:r>
            <a:r>
              <a:rPr lang="tr-TR" b="1" dirty="0"/>
              <a:t>ayırt etme gücünü zayıflatmıştır.</a:t>
            </a:r>
            <a:endParaRPr lang="tr-TR" dirty="0"/>
          </a:p>
          <a:p>
            <a:r>
              <a:rPr lang="tr-TR" b="1" dirty="0"/>
              <a:t>Nihai Karar (İspat):</a:t>
            </a:r>
            <a:endParaRPr lang="tr-TR" dirty="0"/>
          </a:p>
          <a:p>
            <a:pPr lvl="1"/>
            <a:r>
              <a:rPr lang="tr-TR" dirty="0"/>
              <a:t>Bu grafikteki düşüş, estetik bir eğitim eğrisine (</a:t>
            </a:r>
            <a:r>
              <a:rPr lang="tr-TR" dirty="0" err="1"/>
              <a:t>Tanh</a:t>
            </a:r>
            <a:r>
              <a:rPr lang="tr-TR" dirty="0"/>
              <a:t>) aldanmayıp, gerçek saha başarısı daha yüksek olan modele (</a:t>
            </a:r>
            <a:r>
              <a:rPr lang="tr-TR" dirty="0" err="1"/>
              <a:t>ReLU</a:t>
            </a:r>
            <a:r>
              <a:rPr lang="tr-TR" dirty="0"/>
              <a:t>) geçiş yapmamızın en net matematiksel kanıtıdır.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60FEB67-D4B1-B362-6CCD-F711051EB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325" y="2083933"/>
            <a:ext cx="4939820" cy="384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46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D5A582-9CC8-3BF5-5B82-27219161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11" y="242033"/>
            <a:ext cx="11075377" cy="1068022"/>
          </a:xfrm>
        </p:spPr>
        <p:txBody>
          <a:bodyPr/>
          <a:lstStyle/>
          <a:p>
            <a:r>
              <a:rPr lang="tr-TR" dirty="0"/>
              <a:t>Modelin Ayırt Edicilik Gücü (ROC Eğrisi)(sigmoid)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6444CE-3848-3F51-46DE-9D95FA4DC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86654" cy="4522421"/>
          </a:xfrm>
        </p:spPr>
        <p:txBody>
          <a:bodyPr>
            <a:normAutofit fontScale="55000" lnSpcReduction="20000"/>
          </a:bodyPr>
          <a:lstStyle/>
          <a:p>
            <a:r>
              <a:rPr lang="tr-TR" sz="2900" b="1" dirty="0"/>
              <a:t>AUC Skoru (0.971):</a:t>
            </a:r>
          </a:p>
          <a:p>
            <a:r>
              <a:rPr lang="tr-TR" sz="2900" dirty="0"/>
              <a:t>Modelin genel ayırt edicilik skoru 0.971 olarak ölçülmüştür.</a:t>
            </a:r>
          </a:p>
          <a:p>
            <a:r>
              <a:rPr lang="tr-TR" sz="2900" b="1" dirty="0"/>
              <a:t>Şampiyonun Gerisinde Kaldı:</a:t>
            </a:r>
          </a:p>
          <a:p>
            <a:r>
              <a:rPr lang="tr-TR" sz="2900" dirty="0"/>
              <a:t>Bu skor ilk bakışta yüksek görünse de, ana mimarimiz olan </a:t>
            </a:r>
            <a:r>
              <a:rPr lang="tr-TR" sz="2900" dirty="0" err="1"/>
              <a:t>ReLU'nun</a:t>
            </a:r>
            <a:r>
              <a:rPr lang="tr-TR" sz="2900" dirty="0"/>
              <a:t> (0.972) gerisinde kalmıştır.</a:t>
            </a:r>
          </a:p>
          <a:p>
            <a:r>
              <a:rPr lang="tr-TR" sz="2900" b="1" dirty="0"/>
              <a:t>Metrikler Arası Uyumsuzluk (Bulanık Sınırlar):</a:t>
            </a:r>
          </a:p>
          <a:p>
            <a:r>
              <a:rPr lang="tr-TR" sz="2900" dirty="0"/>
              <a:t>AUC skoru </a:t>
            </a:r>
            <a:r>
              <a:rPr lang="tr-TR" sz="2900" dirty="0" err="1"/>
              <a:t>ReLU'ya</a:t>
            </a:r>
            <a:r>
              <a:rPr lang="tr-TR" sz="2900" dirty="0"/>
              <a:t> çok yakın olsa da, bir önceki slaytta gördüğümüz 10 yanlış alarm (en kötü sonuç), modelin gerçek dünyada hastalarla sağlıklıları ayıran o ince çizgiyi çekemediğini kanıtlar.</a:t>
            </a:r>
          </a:p>
          <a:p>
            <a:r>
              <a:rPr lang="tr-TR" sz="2900" b="1" dirty="0"/>
              <a:t>Mühendislik Kararı (Kesin Eleme):</a:t>
            </a:r>
          </a:p>
          <a:p>
            <a:r>
              <a:rPr lang="tr-TR" sz="2900" dirty="0"/>
              <a:t>Sigmoid; hem 'Kaybolan Gradyan' yüzünden eğitimde tıkanmış, hem en çok yanlış alarmı vermiş, hem de AUC skorunda </a:t>
            </a:r>
            <a:r>
              <a:rPr lang="tr-TR" sz="2900" dirty="0" err="1"/>
              <a:t>ReLU'yu</a:t>
            </a:r>
            <a:r>
              <a:rPr lang="tr-TR" sz="2900" dirty="0"/>
              <a:t> geçememiştir. Tüm bu matematiksel testler sonucunda ana modelimiz kesin olarak </a:t>
            </a:r>
            <a:r>
              <a:rPr lang="tr-TR" sz="2900" dirty="0" err="1"/>
              <a:t>ReLU</a:t>
            </a:r>
            <a:r>
              <a:rPr lang="tr-TR" sz="2900" dirty="0"/>
              <a:t> seçilmiştir.</a:t>
            </a:r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5B9398B-CC4D-DD40-6F86-6D3FBB5F2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776" y="1825625"/>
            <a:ext cx="5357776" cy="416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201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D91F80-49A2-319E-6C57-03283E82C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0328"/>
          </a:xfrm>
        </p:spPr>
        <p:txBody>
          <a:bodyPr>
            <a:normAutofit/>
          </a:bodyPr>
          <a:lstStyle/>
          <a:p>
            <a:pPr algn="ctr"/>
            <a:r>
              <a:rPr lang="tr-TR" sz="4000" dirty="0"/>
              <a:t>Model Neden Böyle Düşünüyor? (</a:t>
            </a:r>
            <a:r>
              <a:rPr lang="tr-TR" sz="4000" dirty="0" err="1"/>
              <a:t>Captum</a:t>
            </a:r>
            <a:r>
              <a:rPr lang="tr-TR" sz="4000" dirty="0"/>
              <a:t> XAI)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C41F8C-82C2-D48A-529A-DFC9604E8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036"/>
            <a:ext cx="5081337" cy="4351338"/>
          </a:xfrm>
        </p:spPr>
        <p:txBody>
          <a:bodyPr>
            <a:normAutofit fontScale="77500" lnSpcReduction="20000"/>
          </a:bodyPr>
          <a:lstStyle/>
          <a:p>
            <a:r>
              <a:rPr lang="tr-TR" b="1" dirty="0"/>
              <a:t>Kara Kutu Probleminin Çözümü: </a:t>
            </a:r>
            <a:r>
              <a:rPr lang="tr-TR" dirty="0"/>
              <a:t>Yapay sinir ağları "Kara Kutu" (Black Box) olarak bilinir. Sadece tahmin yapmaz, bunu neden yaptığını doktorlara açıklamalıdır.</a:t>
            </a:r>
          </a:p>
          <a:p>
            <a:r>
              <a:rPr lang="tr-TR" b="1" dirty="0" err="1"/>
              <a:t>Captum</a:t>
            </a:r>
            <a:r>
              <a:rPr lang="tr-TR" b="1" dirty="0"/>
              <a:t> (</a:t>
            </a:r>
            <a:r>
              <a:rPr lang="tr-TR" b="1" dirty="0" err="1"/>
              <a:t>Integrated</a:t>
            </a:r>
            <a:r>
              <a:rPr lang="tr-TR" b="1" dirty="0"/>
              <a:t> </a:t>
            </a:r>
            <a:r>
              <a:rPr lang="tr-TR" b="1" dirty="0" err="1"/>
              <a:t>Gradients</a:t>
            </a:r>
            <a:r>
              <a:rPr lang="tr-TR" b="1" dirty="0"/>
              <a:t>): </a:t>
            </a:r>
            <a:r>
              <a:rPr lang="tr-TR" dirty="0"/>
              <a:t>Modelin içindeki ağırlıkları ve türevleri analiz ederek, karara etki eden en önemli klinik özellikleri çıkardık.</a:t>
            </a:r>
          </a:p>
          <a:p>
            <a:r>
              <a:rPr lang="tr-TR" b="1" dirty="0"/>
              <a:t>Tıbbi Onay (Domain </a:t>
            </a:r>
            <a:r>
              <a:rPr lang="tr-TR" b="1" dirty="0" err="1"/>
              <a:t>Validation</a:t>
            </a:r>
            <a:r>
              <a:rPr lang="tr-TR" b="1" dirty="0"/>
              <a:t>):</a:t>
            </a:r>
          </a:p>
          <a:p>
            <a:r>
              <a:rPr lang="tr-TR" dirty="0"/>
              <a:t>Model kararlarını %80-90 oranında TSH değerine dayandırmıştır.</a:t>
            </a:r>
          </a:p>
          <a:p>
            <a:r>
              <a:rPr lang="tr-TR" dirty="0"/>
              <a:t>Bu sonuç, tıp literatüründeki hipotiroidi teşhis standartlarıyla birebir örtüşmektedir. Modelimiz sadece veri ezberlememiş, tıbbi mantığı kavramıştır.</a:t>
            </a:r>
          </a:p>
          <a:p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409E118D-AA63-0D85-9B4C-B3C800A6D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65" y="1427206"/>
            <a:ext cx="5919535" cy="469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40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0F6D743-5EA2-C4FA-CF60-99E3AC71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698"/>
            <a:ext cx="10515600" cy="1006475"/>
          </a:xfrm>
        </p:spPr>
        <p:txBody>
          <a:bodyPr/>
          <a:lstStyle/>
          <a:p>
            <a:r>
              <a:rPr lang="tr-TR" b="1" dirty="0"/>
              <a:t>Referanslar ve Kaynakça: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CCC658-B795-F556-90EA-945F9231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/>
              <a:t>Veri Seti (</a:t>
            </a:r>
            <a:r>
              <a:rPr lang="tr-TR" b="1" dirty="0" err="1"/>
              <a:t>Dataset</a:t>
            </a:r>
            <a:r>
              <a:rPr lang="tr-TR" b="1" dirty="0"/>
              <a:t>):</a:t>
            </a:r>
            <a:endParaRPr lang="tr-TR" dirty="0"/>
          </a:p>
          <a:p>
            <a:pPr lvl="1"/>
            <a:r>
              <a:rPr lang="tr-TR" dirty="0" err="1"/>
              <a:t>Hessein</a:t>
            </a:r>
            <a:r>
              <a:rPr lang="tr-TR" dirty="0"/>
              <a:t>, Y. (2020). </a:t>
            </a:r>
            <a:r>
              <a:rPr lang="tr-TR" i="1" dirty="0" err="1"/>
              <a:t>Thyroid</a:t>
            </a:r>
            <a:r>
              <a:rPr lang="tr-TR" i="1" dirty="0"/>
              <a:t> </a:t>
            </a:r>
            <a:r>
              <a:rPr lang="tr-TR" i="1" dirty="0" err="1"/>
              <a:t>Disease</a:t>
            </a:r>
            <a:r>
              <a:rPr lang="tr-TR" i="1" dirty="0"/>
              <a:t> Data Set</a:t>
            </a:r>
            <a:r>
              <a:rPr lang="tr-TR" dirty="0"/>
              <a:t>. </a:t>
            </a:r>
            <a:r>
              <a:rPr lang="tr-TR" dirty="0" err="1"/>
              <a:t>Kaggle</a:t>
            </a:r>
            <a:r>
              <a:rPr lang="tr-TR" dirty="0"/>
              <a:t>.</a:t>
            </a:r>
          </a:p>
          <a:p>
            <a:r>
              <a:rPr lang="tr-TR" b="1" dirty="0"/>
              <a:t>Derin Öğrenme Altyapısı (</a:t>
            </a:r>
            <a:r>
              <a:rPr lang="tr-TR" b="1" dirty="0" err="1"/>
              <a:t>Deep</a:t>
            </a:r>
            <a:r>
              <a:rPr lang="tr-TR" b="1" dirty="0"/>
              <a:t> Learning Framework):</a:t>
            </a:r>
            <a:endParaRPr lang="tr-TR" dirty="0"/>
          </a:p>
          <a:p>
            <a:pPr lvl="1"/>
            <a:r>
              <a:rPr lang="tr-TR" dirty="0" err="1"/>
              <a:t>Paszke</a:t>
            </a:r>
            <a:r>
              <a:rPr lang="tr-TR" dirty="0"/>
              <a:t>, A., et al. (2019). </a:t>
            </a:r>
            <a:r>
              <a:rPr lang="tr-TR" i="1" dirty="0" err="1"/>
              <a:t>PyTorch</a:t>
            </a:r>
            <a:r>
              <a:rPr lang="tr-TR" i="1" dirty="0"/>
              <a:t>: An </a:t>
            </a:r>
            <a:r>
              <a:rPr lang="tr-TR" i="1" dirty="0" err="1"/>
              <a:t>Imperative</a:t>
            </a:r>
            <a:r>
              <a:rPr lang="tr-TR" i="1" dirty="0"/>
              <a:t> Style, High-</a:t>
            </a:r>
            <a:r>
              <a:rPr lang="tr-TR" i="1" dirty="0" err="1"/>
              <a:t>Performance</a:t>
            </a:r>
            <a:r>
              <a:rPr lang="tr-TR" i="1" dirty="0"/>
              <a:t> </a:t>
            </a:r>
            <a:r>
              <a:rPr lang="tr-TR" i="1" dirty="0" err="1"/>
              <a:t>Deep</a:t>
            </a:r>
            <a:r>
              <a:rPr lang="tr-TR" i="1" dirty="0"/>
              <a:t> Learning Library</a:t>
            </a:r>
            <a:r>
              <a:rPr lang="tr-TR" dirty="0"/>
              <a:t>. </a:t>
            </a:r>
            <a:r>
              <a:rPr lang="tr-TR" dirty="0" err="1"/>
              <a:t>Advances</a:t>
            </a:r>
            <a:r>
              <a:rPr lang="tr-TR" dirty="0"/>
              <a:t> in </a:t>
            </a:r>
            <a:r>
              <a:rPr lang="tr-TR" dirty="0" err="1"/>
              <a:t>Neural</a:t>
            </a:r>
            <a:r>
              <a:rPr lang="tr-TR" dirty="0"/>
              <a:t> Information </a:t>
            </a:r>
            <a:r>
              <a:rPr lang="tr-TR" dirty="0" err="1"/>
              <a:t>Processing</a:t>
            </a:r>
            <a:r>
              <a:rPr lang="tr-TR" dirty="0"/>
              <a:t> </a:t>
            </a:r>
            <a:r>
              <a:rPr lang="tr-TR" dirty="0" err="1"/>
              <a:t>Systems</a:t>
            </a:r>
            <a:r>
              <a:rPr lang="tr-TR" dirty="0"/>
              <a:t> (</a:t>
            </a:r>
            <a:r>
              <a:rPr lang="tr-TR" dirty="0" err="1"/>
              <a:t>NeurIPS</a:t>
            </a:r>
            <a:r>
              <a:rPr lang="tr-TR" dirty="0"/>
              <a:t>).</a:t>
            </a:r>
          </a:p>
          <a:p>
            <a:r>
              <a:rPr lang="tr-TR" b="1" dirty="0"/>
              <a:t>Açıklanabilir Yapay Zeka (</a:t>
            </a:r>
            <a:r>
              <a:rPr lang="tr-TR" b="1" dirty="0" err="1"/>
              <a:t>Explainable</a:t>
            </a:r>
            <a:r>
              <a:rPr lang="tr-TR" b="1" dirty="0"/>
              <a:t> AI - XAI):</a:t>
            </a:r>
            <a:endParaRPr lang="tr-TR" dirty="0"/>
          </a:p>
          <a:p>
            <a:pPr lvl="1"/>
            <a:r>
              <a:rPr lang="tr-TR" dirty="0" err="1"/>
              <a:t>Kokhlikyan</a:t>
            </a:r>
            <a:r>
              <a:rPr lang="tr-TR" dirty="0"/>
              <a:t>, N., et al. (2020). </a:t>
            </a:r>
            <a:r>
              <a:rPr lang="tr-TR" i="1" dirty="0" err="1"/>
              <a:t>Captum</a:t>
            </a:r>
            <a:r>
              <a:rPr lang="tr-TR" i="1" dirty="0"/>
              <a:t>: A </a:t>
            </a:r>
            <a:r>
              <a:rPr lang="tr-TR" i="1" dirty="0" err="1"/>
              <a:t>unified</a:t>
            </a:r>
            <a:r>
              <a:rPr lang="tr-TR" i="1" dirty="0"/>
              <a:t> </a:t>
            </a:r>
            <a:r>
              <a:rPr lang="tr-TR" i="1" dirty="0" err="1"/>
              <a:t>and</a:t>
            </a:r>
            <a:r>
              <a:rPr lang="tr-TR" i="1" dirty="0"/>
              <a:t> </a:t>
            </a:r>
            <a:r>
              <a:rPr lang="tr-TR" i="1" dirty="0" err="1"/>
              <a:t>generic</a:t>
            </a:r>
            <a:r>
              <a:rPr lang="tr-TR" i="1" dirty="0"/>
              <a:t> model </a:t>
            </a:r>
            <a:r>
              <a:rPr lang="tr-TR" i="1" dirty="0" err="1"/>
              <a:t>interpretability</a:t>
            </a:r>
            <a:r>
              <a:rPr lang="tr-TR" i="1" dirty="0"/>
              <a:t> </a:t>
            </a:r>
            <a:r>
              <a:rPr lang="tr-TR" i="1" dirty="0" err="1"/>
              <a:t>library</a:t>
            </a:r>
            <a:r>
              <a:rPr lang="tr-TR" i="1" dirty="0"/>
              <a:t> </a:t>
            </a:r>
            <a:r>
              <a:rPr lang="tr-TR" i="1" dirty="0" err="1"/>
              <a:t>for</a:t>
            </a:r>
            <a:r>
              <a:rPr lang="tr-TR" i="1" dirty="0"/>
              <a:t> </a:t>
            </a:r>
            <a:r>
              <a:rPr lang="tr-TR" i="1" dirty="0" err="1"/>
              <a:t>PyTorch</a:t>
            </a:r>
            <a:r>
              <a:rPr lang="tr-TR" dirty="0"/>
              <a:t>.</a:t>
            </a:r>
          </a:p>
          <a:p>
            <a:r>
              <a:rPr lang="tr-TR" b="1" dirty="0"/>
              <a:t>Makine Öğrenmesi ve Ön İşleme Araçları:</a:t>
            </a:r>
            <a:endParaRPr lang="tr-TR" dirty="0"/>
          </a:p>
          <a:p>
            <a:pPr lvl="1"/>
            <a:r>
              <a:rPr lang="tr-TR" dirty="0" err="1"/>
              <a:t>Pedregosa</a:t>
            </a:r>
            <a:r>
              <a:rPr lang="tr-TR" dirty="0"/>
              <a:t>, F., et al. (2011). </a:t>
            </a:r>
            <a:r>
              <a:rPr lang="tr-TR" i="1" dirty="0" err="1"/>
              <a:t>Scikit-learn</a:t>
            </a:r>
            <a:r>
              <a:rPr lang="tr-TR" i="1" dirty="0"/>
              <a:t>: Machine Learning in Python</a:t>
            </a:r>
            <a:r>
              <a:rPr lang="tr-TR" dirty="0"/>
              <a:t>. </a:t>
            </a:r>
            <a:r>
              <a:rPr lang="tr-TR" dirty="0" err="1"/>
              <a:t>Journal</a:t>
            </a:r>
            <a:r>
              <a:rPr lang="tr-TR" dirty="0"/>
              <a:t> of Machine Learning </a:t>
            </a:r>
            <a:r>
              <a:rPr lang="tr-TR" dirty="0" err="1"/>
              <a:t>Research</a:t>
            </a:r>
            <a:r>
              <a:rPr lang="tr-TR" dirty="0"/>
              <a:t> (JMLR).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0915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2074</Words>
  <Application>Microsoft Office PowerPoint</Application>
  <PresentationFormat>Geniş ekran</PresentationFormat>
  <Paragraphs>146</Paragraphs>
  <Slides>20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Google Sans Flex</vt:lpstr>
      <vt:lpstr>Office Teması</vt:lpstr>
      <vt:lpstr>Yapay Zeka ile Hastalık Tespiti</vt:lpstr>
      <vt:lpstr>Hipotiroidi Nedir?</vt:lpstr>
      <vt:lpstr>Veri Setinin Anatomisi (Değişkenler/Özellikler)</vt:lpstr>
      <vt:lpstr>Verideki En Büyük Engel: Sınıf Dengesizliği</vt:lpstr>
      <vt:lpstr>Verinin Karakteri ve Eksik Veri Stratejisi  (Histogram &amp; Boxplot)</vt:lpstr>
      <vt:lpstr>PowerPoint Sunusu</vt:lpstr>
      <vt:lpstr>PowerPoint Sunusu</vt:lpstr>
      <vt:lpstr>Özellikler Arası İlişkiler (Korelasyon Isı Haritası)</vt:lpstr>
      <vt:lpstr>Dinamik Yapay Sinir Ağı Mimarisi (PyTorchANN)(ReLU)</vt:lpstr>
      <vt:lpstr>Modelin Eğitimi ve 'Erken Durdurma' (Early Stopping)</vt:lpstr>
      <vt:lpstr>Aktivasyon Fonksiyonu Deneyleri </vt:lpstr>
      <vt:lpstr>Neden Adam Optimizatörü?</vt:lpstr>
      <vt:lpstr>Modelin Gerçek Hayat Başarısı (Karmaşıklık Matrisi)(ReLU)</vt:lpstr>
      <vt:lpstr>Modelin Gerçek Hayat Başarısı (Karmaşıklık Matrisi)(tanh)</vt:lpstr>
      <vt:lpstr>Modelin Gerçek Hayat Başarısı (Karmaşıklık Matrisi)(sigmoid)</vt:lpstr>
      <vt:lpstr>Modelin Ayırt Edicilik Gücü (ROC Eğrisi)(ReLU)</vt:lpstr>
      <vt:lpstr>Modelin Ayırt Edicilik Gücü (ROC Eğrisi)(tanh)</vt:lpstr>
      <vt:lpstr>Modelin Ayırt Edicilik Gücü (ROC Eğrisi)(sigmoid)</vt:lpstr>
      <vt:lpstr>Model Neden Böyle Düşünüyor? (Captum XAI)</vt:lpstr>
      <vt:lpstr>Referanslar ve Kaynakça: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baykan</dc:creator>
  <cp:lastModifiedBy>yusuf baykan</cp:lastModifiedBy>
  <cp:revision>4</cp:revision>
  <dcterms:created xsi:type="dcterms:W3CDTF">2026-04-12T09:17:18Z</dcterms:created>
  <dcterms:modified xsi:type="dcterms:W3CDTF">2026-04-14T20:00:36Z</dcterms:modified>
</cp:coreProperties>
</file>