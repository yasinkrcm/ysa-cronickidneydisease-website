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7" r:id="rId1"/>
  </p:sldMasterIdLst>
  <p:sldIdLst>
    <p:sldId id="258" r:id="rId2"/>
    <p:sldId id="274" r:id="rId3"/>
    <p:sldId id="295" r:id="rId4"/>
    <p:sldId id="275" r:id="rId5"/>
    <p:sldId id="276" r:id="rId6"/>
    <p:sldId id="308" r:id="rId7"/>
    <p:sldId id="277" r:id="rId8"/>
    <p:sldId id="309" r:id="rId9"/>
    <p:sldId id="307" r:id="rId10"/>
    <p:sldId id="311" r:id="rId11"/>
    <p:sldId id="317" r:id="rId12"/>
    <p:sldId id="313" r:id="rId13"/>
    <p:sldId id="314" r:id="rId14"/>
    <p:sldId id="315" r:id="rId15"/>
    <p:sldId id="316" r:id="rId16"/>
    <p:sldId id="312" r:id="rId17"/>
    <p:sldId id="318" r:id="rId18"/>
    <p:sldId id="320" r:id="rId19"/>
    <p:sldId id="319" r:id="rId20"/>
    <p:sldId id="302" r:id="rId2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3BFC38-22BA-0832-CB54-B8B1A8C16F9B}" v="46" dt="2025-11-29T14:32:44.568"/>
    <p1510:client id="{DEFA4C94-A5AE-CB40-9F14-C23809E904E7}" v="23" dt="2025-11-29T14:40:17.085"/>
  </p1510:revLst>
</p1510:revInfo>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5" autoAdjust="0"/>
    <p:restoredTop sz="94660"/>
  </p:normalViewPr>
  <p:slideViewPr>
    <p:cSldViewPr snapToGrid="0">
      <p:cViewPr>
        <p:scale>
          <a:sx n="100" d="100"/>
          <a:sy n="100" d="100"/>
        </p:scale>
        <p:origin x="990" y="3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İN KARAÇAM" userId="S::o2301050020@ogr.igdir.edu.tr::58c5930f-9f6c-48d8-8a96-bbd9ae9fb841" providerId="AD" clId="Web-{113BFC38-22BA-0832-CB54-B8B1A8C16F9B}"/>
    <pc:docChg chg="modSld">
      <pc:chgData name="YASİN KARAÇAM" userId="S::o2301050020@ogr.igdir.edu.tr::58c5930f-9f6c-48d8-8a96-bbd9ae9fb841" providerId="AD" clId="Web-{113BFC38-22BA-0832-CB54-B8B1A8C16F9B}" dt="2025-11-29T14:32:44.568" v="21"/>
      <pc:docMkLst>
        <pc:docMk/>
      </pc:docMkLst>
      <pc:sldChg chg="addSp delSp modSp">
        <pc:chgData name="YASİN KARAÇAM" userId="S::o2301050020@ogr.igdir.edu.tr::58c5930f-9f6c-48d8-8a96-bbd9ae9fb841" providerId="AD" clId="Web-{113BFC38-22BA-0832-CB54-B8B1A8C16F9B}" dt="2025-11-29T14:32:44.568" v="21"/>
        <pc:sldMkLst>
          <pc:docMk/>
          <pc:sldMk cId="3408895631" sldId="305"/>
        </pc:sldMkLst>
        <pc:spChg chg="del">
          <ac:chgData name="YASİN KARAÇAM" userId="S::o2301050020@ogr.igdir.edu.tr::58c5930f-9f6c-48d8-8a96-bbd9ae9fb841" providerId="AD" clId="Web-{113BFC38-22BA-0832-CB54-B8B1A8C16F9B}" dt="2025-11-29T14:28:11.464" v="0"/>
          <ac:spMkLst>
            <pc:docMk/>
            <pc:sldMk cId="3408895631" sldId="305"/>
            <ac:spMk id="6" creationId="{31A2E26E-D49A-4DA1-B346-F6DE0B9F313D}"/>
          </ac:spMkLst>
        </pc:spChg>
        <pc:spChg chg="add del mod">
          <ac:chgData name="YASİN KARAÇAM" userId="S::o2301050020@ogr.igdir.edu.tr::58c5930f-9f6c-48d8-8a96-bbd9ae9fb841" providerId="AD" clId="Web-{113BFC38-22BA-0832-CB54-B8B1A8C16F9B}" dt="2025-11-29T14:28:33.230" v="4"/>
          <ac:spMkLst>
            <pc:docMk/>
            <pc:sldMk cId="3408895631" sldId="305"/>
            <ac:spMk id="8" creationId="{A50ADA97-7606-280E-C8ED-599AEB77A8B9}"/>
          </ac:spMkLst>
        </pc:spChg>
        <pc:spChg chg="add del mod">
          <ac:chgData name="YASİN KARAÇAM" userId="S::o2301050020@ogr.igdir.edu.tr::58c5930f-9f6c-48d8-8a96-bbd9ae9fb841" providerId="AD" clId="Web-{113BFC38-22BA-0832-CB54-B8B1A8C16F9B}" dt="2025-11-29T14:30:46.014" v="6"/>
          <ac:spMkLst>
            <pc:docMk/>
            <pc:sldMk cId="3408895631" sldId="305"/>
            <ac:spMk id="12" creationId="{1F7F8748-509C-9B0E-7410-245E2268831B}"/>
          </ac:spMkLst>
        </pc:spChg>
        <pc:graphicFrameChg chg="add del mod ord modGraphic">
          <ac:chgData name="YASİN KARAÇAM" userId="S::o2301050020@ogr.igdir.edu.tr::58c5930f-9f6c-48d8-8a96-bbd9ae9fb841" providerId="AD" clId="Web-{113BFC38-22BA-0832-CB54-B8B1A8C16F9B}" dt="2025-11-29T14:28:29.621" v="3"/>
          <ac:graphicFrameMkLst>
            <pc:docMk/>
            <pc:sldMk cId="3408895631" sldId="305"/>
            <ac:graphicFrameMk id="3" creationId="{E930E28C-891D-19C3-4383-878F9682FEA8}"/>
          </ac:graphicFrameMkLst>
        </pc:graphicFrameChg>
        <pc:graphicFrameChg chg="add del mod modGraphic">
          <ac:chgData name="YASİN KARAÇAM" userId="S::o2301050020@ogr.igdir.edu.tr::58c5930f-9f6c-48d8-8a96-bbd9ae9fb841" providerId="AD" clId="Web-{113BFC38-22BA-0832-CB54-B8B1A8C16F9B}" dt="2025-11-29T14:30:53.561" v="10"/>
          <ac:graphicFrameMkLst>
            <pc:docMk/>
            <pc:sldMk cId="3408895631" sldId="305"/>
            <ac:graphicFrameMk id="5" creationId="{AA302D86-A5FF-72FB-C2A0-7B6860546318}"/>
          </ac:graphicFrameMkLst>
        </pc:graphicFrameChg>
        <pc:graphicFrameChg chg="add del mod ord modGraphic">
          <ac:chgData name="YASİN KARAÇAM" userId="S::o2301050020@ogr.igdir.edu.tr::58c5930f-9f6c-48d8-8a96-bbd9ae9fb841" providerId="AD" clId="Web-{113BFC38-22BA-0832-CB54-B8B1A8C16F9B}" dt="2025-11-29T14:30:27.732" v="5"/>
          <ac:graphicFrameMkLst>
            <pc:docMk/>
            <pc:sldMk cId="3408895631" sldId="305"/>
            <ac:graphicFrameMk id="10" creationId="{51CE48D4-F0BE-72FE-06F2-29A492A9E912}"/>
          </ac:graphicFrameMkLst>
        </pc:graphicFrameChg>
        <pc:picChg chg="add mod ord">
          <ac:chgData name="YASİN KARAÇAM" userId="S::o2301050020@ogr.igdir.edu.tr::58c5930f-9f6c-48d8-8a96-bbd9ae9fb841" providerId="AD" clId="Web-{113BFC38-22BA-0832-CB54-B8B1A8C16F9B}" dt="2025-11-29T14:30:49.655" v="8" actId="1076"/>
          <ac:picMkLst>
            <pc:docMk/>
            <pc:sldMk cId="3408895631" sldId="305"/>
            <ac:picMk id="13" creationId="{5A365354-4420-4377-455E-7BE884A46230}"/>
          </ac:picMkLst>
        </pc:picChg>
        <pc:inkChg chg="add del">
          <ac:chgData name="YASİN KARAÇAM" userId="S::o2301050020@ogr.igdir.edu.tr::58c5930f-9f6c-48d8-8a96-bbd9ae9fb841" providerId="AD" clId="Web-{113BFC38-22BA-0832-CB54-B8B1A8C16F9B}" dt="2025-11-29T14:32:07.907" v="12"/>
          <ac:inkMkLst>
            <pc:docMk/>
            <pc:sldMk cId="3408895631" sldId="305"/>
            <ac:inkMk id="14" creationId="{5ED6AE7F-04E9-FE44-5C49-0555A4B09825}"/>
          </ac:inkMkLst>
        </pc:inkChg>
        <pc:inkChg chg="add del">
          <ac:chgData name="YASİN KARAÇAM" userId="S::o2301050020@ogr.igdir.edu.tr::58c5930f-9f6c-48d8-8a96-bbd9ae9fb841" providerId="AD" clId="Web-{113BFC38-22BA-0832-CB54-B8B1A8C16F9B}" dt="2025-11-29T14:32:16.065" v="14"/>
          <ac:inkMkLst>
            <pc:docMk/>
            <pc:sldMk cId="3408895631" sldId="305"/>
            <ac:inkMk id="15" creationId="{C734BF1D-2F0F-01AF-5885-8A87ECBF7CEA}"/>
          </ac:inkMkLst>
        </pc:inkChg>
        <pc:inkChg chg="add">
          <ac:chgData name="YASİN KARAÇAM" userId="S::o2301050020@ogr.igdir.edu.tr::58c5930f-9f6c-48d8-8a96-bbd9ae9fb841" providerId="AD" clId="Web-{113BFC38-22BA-0832-CB54-B8B1A8C16F9B}" dt="2025-11-29T14:32:20.659" v="15"/>
          <ac:inkMkLst>
            <pc:docMk/>
            <pc:sldMk cId="3408895631" sldId="305"/>
            <ac:inkMk id="16" creationId="{D4716A63-96C6-E90C-299B-6E46CACC41F0}"/>
          </ac:inkMkLst>
        </pc:inkChg>
        <pc:inkChg chg="add">
          <ac:chgData name="YASİN KARAÇAM" userId="S::o2301050020@ogr.igdir.edu.tr::58c5930f-9f6c-48d8-8a96-bbd9ae9fb841" providerId="AD" clId="Web-{113BFC38-22BA-0832-CB54-B8B1A8C16F9B}" dt="2025-11-29T14:32:24.409" v="16"/>
          <ac:inkMkLst>
            <pc:docMk/>
            <pc:sldMk cId="3408895631" sldId="305"/>
            <ac:inkMk id="17" creationId="{1F46129B-F5F4-3C9C-D241-79BA8F244376}"/>
          </ac:inkMkLst>
        </pc:inkChg>
        <pc:inkChg chg="add">
          <ac:chgData name="YASİN KARAÇAM" userId="S::o2301050020@ogr.igdir.edu.tr::58c5930f-9f6c-48d8-8a96-bbd9ae9fb841" providerId="AD" clId="Web-{113BFC38-22BA-0832-CB54-B8B1A8C16F9B}" dt="2025-11-29T14:32:25.738" v="17"/>
          <ac:inkMkLst>
            <pc:docMk/>
            <pc:sldMk cId="3408895631" sldId="305"/>
            <ac:inkMk id="18" creationId="{D4688CCF-8A25-BF71-54BC-BD9981235CFF}"/>
          </ac:inkMkLst>
        </pc:inkChg>
        <pc:inkChg chg="add">
          <ac:chgData name="YASİN KARAÇAM" userId="S::o2301050020@ogr.igdir.edu.tr::58c5930f-9f6c-48d8-8a96-bbd9ae9fb841" providerId="AD" clId="Web-{113BFC38-22BA-0832-CB54-B8B1A8C16F9B}" dt="2025-11-29T14:32:27.675" v="18"/>
          <ac:inkMkLst>
            <pc:docMk/>
            <pc:sldMk cId="3408895631" sldId="305"/>
            <ac:inkMk id="19" creationId="{DA05FBE3-BB46-03A0-A545-3DC8F5F2C58F}"/>
          </ac:inkMkLst>
        </pc:inkChg>
        <pc:inkChg chg="add">
          <ac:chgData name="YASİN KARAÇAM" userId="S::o2301050020@ogr.igdir.edu.tr::58c5930f-9f6c-48d8-8a96-bbd9ae9fb841" providerId="AD" clId="Web-{113BFC38-22BA-0832-CB54-B8B1A8C16F9B}" dt="2025-11-29T14:32:39.474" v="19"/>
          <ac:inkMkLst>
            <pc:docMk/>
            <pc:sldMk cId="3408895631" sldId="305"/>
            <ac:inkMk id="20" creationId="{BF0036BC-4373-3135-724B-56D859FA11AC}"/>
          </ac:inkMkLst>
        </pc:inkChg>
        <pc:inkChg chg="add">
          <ac:chgData name="YASİN KARAÇAM" userId="S::o2301050020@ogr.igdir.edu.tr::58c5930f-9f6c-48d8-8a96-bbd9ae9fb841" providerId="AD" clId="Web-{113BFC38-22BA-0832-CB54-B8B1A8C16F9B}" dt="2025-11-29T14:32:41.630" v="20"/>
          <ac:inkMkLst>
            <pc:docMk/>
            <pc:sldMk cId="3408895631" sldId="305"/>
            <ac:inkMk id="21" creationId="{D42E9D51-3ECA-27B3-907A-4DC1EE478B3F}"/>
          </ac:inkMkLst>
        </pc:inkChg>
        <pc:inkChg chg="add">
          <ac:chgData name="YASİN KARAÇAM" userId="S::o2301050020@ogr.igdir.edu.tr::58c5930f-9f6c-48d8-8a96-bbd9ae9fb841" providerId="AD" clId="Web-{113BFC38-22BA-0832-CB54-B8B1A8C16F9B}" dt="2025-11-29T14:32:44.568" v="21"/>
          <ac:inkMkLst>
            <pc:docMk/>
            <pc:sldMk cId="3408895631" sldId="305"/>
            <ac:inkMk id="22" creationId="{123CFC5C-4123-4507-2E58-9D18A41B973A}"/>
          </ac:inkMkLst>
        </pc:inkChg>
      </pc:sldChg>
    </pc:docChg>
  </pc:docChgLst>
  <pc:docChgLst>
    <pc:chgData name="YASİN KARAÇAM" userId="S::o2301050020@ogr.igdir.edu.tr::58c5930f-9f6c-48d8-8a96-bbd9ae9fb841" providerId="AD" clId="Web-{DEFA4C94-A5AE-CB40-9F14-C23809E904E7}"/>
    <pc:docChg chg="modSld">
      <pc:chgData name="YASİN KARAÇAM" userId="S::o2301050020@ogr.igdir.edu.tr::58c5930f-9f6c-48d8-8a96-bbd9ae9fb841" providerId="AD" clId="Web-{DEFA4C94-A5AE-CB40-9F14-C23809E904E7}" dt="2025-11-29T14:34:08.067" v="10"/>
      <pc:docMkLst>
        <pc:docMk/>
      </pc:docMkLst>
      <pc:sldChg chg="addSp delSp">
        <pc:chgData name="YASİN KARAÇAM" userId="S::o2301050020@ogr.igdir.edu.tr::58c5930f-9f6c-48d8-8a96-bbd9ae9fb841" providerId="AD" clId="Web-{DEFA4C94-A5AE-CB40-9F14-C23809E904E7}" dt="2025-11-29T14:34:08.067" v="10"/>
        <pc:sldMkLst>
          <pc:docMk/>
          <pc:sldMk cId="3408895631" sldId="305"/>
        </pc:sldMkLst>
        <pc:inkChg chg="add">
          <ac:chgData name="YASİN KARAÇAM" userId="S::o2301050020@ogr.igdir.edu.tr::58c5930f-9f6c-48d8-8a96-bbd9ae9fb841" providerId="AD" clId="Web-{DEFA4C94-A5AE-CB40-9F14-C23809E904E7}" dt="2025-11-29T14:33:53.567" v="7"/>
          <ac:inkMkLst>
            <pc:docMk/>
            <pc:sldMk cId="3408895631" sldId="305"/>
            <ac:inkMk id="3" creationId="{D7F88C16-0B36-A741-42A5-6B688F88370D}"/>
          </ac:inkMkLst>
        </pc:inkChg>
        <pc:inkChg chg="add">
          <ac:chgData name="YASİN KARAÇAM" userId="S::o2301050020@ogr.igdir.edu.tr::58c5930f-9f6c-48d8-8a96-bbd9ae9fb841" providerId="AD" clId="Web-{DEFA4C94-A5AE-CB40-9F14-C23809E904E7}" dt="2025-11-29T14:34:04.098" v="8"/>
          <ac:inkMkLst>
            <pc:docMk/>
            <pc:sldMk cId="3408895631" sldId="305"/>
            <ac:inkMk id="4" creationId="{EF62A7A2-BFF5-0819-60E0-882279B6FD24}"/>
          </ac:inkMkLst>
        </pc:inkChg>
        <pc:inkChg chg="add del">
          <ac:chgData name="YASİN KARAÇAM" userId="S::o2301050020@ogr.igdir.edu.tr::58c5930f-9f6c-48d8-8a96-bbd9ae9fb841" providerId="AD" clId="Web-{DEFA4C94-A5AE-CB40-9F14-C23809E904E7}" dt="2025-11-29T14:34:08.067" v="10"/>
          <ac:inkMkLst>
            <pc:docMk/>
            <pc:sldMk cId="3408895631" sldId="305"/>
            <ac:inkMk id="5" creationId="{F54F3114-431E-972D-54AF-0276FD2DE008}"/>
          </ac:inkMkLst>
        </pc:inkChg>
        <pc:inkChg chg="del">
          <ac:chgData name="YASİN KARAÇAM" userId="S::o2301050020@ogr.igdir.edu.tr::58c5930f-9f6c-48d8-8a96-bbd9ae9fb841" providerId="AD" clId="Web-{DEFA4C94-A5AE-CB40-9F14-C23809E904E7}" dt="2025-11-29T14:33:39.426" v="6"/>
          <ac:inkMkLst>
            <pc:docMk/>
            <pc:sldMk cId="3408895631" sldId="305"/>
            <ac:inkMk id="16" creationId="{D4716A63-96C6-E90C-299B-6E46CACC41F0}"/>
          </ac:inkMkLst>
        </pc:inkChg>
        <pc:inkChg chg="del">
          <ac:chgData name="YASİN KARAÇAM" userId="S::o2301050020@ogr.igdir.edu.tr::58c5930f-9f6c-48d8-8a96-bbd9ae9fb841" providerId="AD" clId="Web-{DEFA4C94-A5AE-CB40-9F14-C23809E904E7}" dt="2025-11-29T14:33:33.457" v="5"/>
          <ac:inkMkLst>
            <pc:docMk/>
            <pc:sldMk cId="3408895631" sldId="305"/>
            <ac:inkMk id="17" creationId="{1F46129B-F5F4-3C9C-D241-79BA8F244376}"/>
          </ac:inkMkLst>
        </pc:inkChg>
        <pc:inkChg chg="del">
          <ac:chgData name="YASİN KARAÇAM" userId="S::o2301050020@ogr.igdir.edu.tr::58c5930f-9f6c-48d8-8a96-bbd9ae9fb841" providerId="AD" clId="Web-{DEFA4C94-A5AE-CB40-9F14-C23809E904E7}" dt="2025-11-29T14:33:29.707" v="2"/>
          <ac:inkMkLst>
            <pc:docMk/>
            <pc:sldMk cId="3408895631" sldId="305"/>
            <ac:inkMk id="18" creationId="{D4688CCF-8A25-BF71-54BC-BD9981235CFF}"/>
          </ac:inkMkLst>
        </pc:inkChg>
        <pc:inkChg chg="del">
          <ac:chgData name="YASİN KARAÇAM" userId="S::o2301050020@ogr.igdir.edu.tr::58c5930f-9f6c-48d8-8a96-bbd9ae9fb841" providerId="AD" clId="Web-{DEFA4C94-A5AE-CB40-9F14-C23809E904E7}" dt="2025-11-29T14:33:28.176" v="1"/>
          <ac:inkMkLst>
            <pc:docMk/>
            <pc:sldMk cId="3408895631" sldId="305"/>
            <ac:inkMk id="19" creationId="{DA05FBE3-BB46-03A0-A545-3DC8F5F2C58F}"/>
          </ac:inkMkLst>
        </pc:inkChg>
        <pc:inkChg chg="del">
          <ac:chgData name="YASİN KARAÇAM" userId="S::o2301050020@ogr.igdir.edu.tr::58c5930f-9f6c-48d8-8a96-bbd9ae9fb841" providerId="AD" clId="Web-{DEFA4C94-A5AE-CB40-9F14-C23809E904E7}" dt="2025-11-29T14:33:26.426" v="0"/>
          <ac:inkMkLst>
            <pc:docMk/>
            <pc:sldMk cId="3408895631" sldId="305"/>
            <ac:inkMk id="20" creationId="{BF0036BC-4373-3135-724B-56D859FA11AC}"/>
          </ac:inkMkLst>
        </pc:inkChg>
        <pc:inkChg chg="del">
          <ac:chgData name="YASİN KARAÇAM" userId="S::o2301050020@ogr.igdir.edu.tr::58c5930f-9f6c-48d8-8a96-bbd9ae9fb841" providerId="AD" clId="Web-{DEFA4C94-A5AE-CB40-9F14-C23809E904E7}" dt="2025-11-29T14:33:31.879" v="4"/>
          <ac:inkMkLst>
            <pc:docMk/>
            <pc:sldMk cId="3408895631" sldId="305"/>
            <ac:inkMk id="21" creationId="{D42E9D51-3ECA-27B3-907A-4DC1EE478B3F}"/>
          </ac:inkMkLst>
        </pc:inkChg>
        <pc:inkChg chg="del">
          <ac:chgData name="YASİN KARAÇAM" userId="S::o2301050020@ogr.igdir.edu.tr::58c5930f-9f6c-48d8-8a96-bbd9ae9fb841" providerId="AD" clId="Web-{DEFA4C94-A5AE-CB40-9F14-C23809E904E7}" dt="2025-11-29T14:33:30.926" v="3"/>
          <ac:inkMkLst>
            <pc:docMk/>
            <pc:sldMk cId="3408895631" sldId="305"/>
            <ac:inkMk id="22" creationId="{123CFC5C-4123-4507-2E58-9D18A41B973A}"/>
          </ac:inkMkLst>
        </pc:ink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4/28/2026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00172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11170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4/28/2026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60063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49110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4/28/2026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67002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4/28/2026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40846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88574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4/28/2026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71443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19743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4/28/2026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75528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4/28/2026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0714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a:t>
            </a:r>
          </a:p>
          <a:p>
            <a:pPr lvl="7"/>
            <a:r>
              <a:rPr lang="en-US" dirty="0"/>
              <a:t>Eight</a:t>
            </a:r>
          </a:p>
          <a:p>
            <a:pPr lvl="8"/>
            <a:r>
              <a:rPr lang="en-US" dirty="0"/>
              <a:t>nine</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4/28/2026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803602710"/>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12" r:id="rId5"/>
    <p:sldLayoutId id="2147483813" r:id="rId6"/>
    <p:sldLayoutId id="2147483814" r:id="rId7"/>
    <p:sldLayoutId id="2147483815" r:id="rId8"/>
    <p:sldLayoutId id="2147483816" r:id="rId9"/>
    <p:sldLayoutId id="2147483817" r:id="rId10"/>
    <p:sldLayoutId id="2147483818"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 name="Rectangle 60">
            <a:extLst>
              <a:ext uri="{FF2B5EF4-FFF2-40B4-BE49-F238E27FC236}">
                <a16:creationId xmlns:a16="http://schemas.microsoft.com/office/drawing/2014/main" id="{2928117C-9446-4E7F-AE62-95E0F6DB5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59" name="Rectangle 62">
            <a:extLst>
              <a:ext uri="{FF2B5EF4-FFF2-40B4-BE49-F238E27FC236}">
                <a16:creationId xmlns:a16="http://schemas.microsoft.com/office/drawing/2014/main" id="{84D30AFB-4D71-48B0-AA00-28EE92363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60" name="Rectangle 64">
            <a:extLst>
              <a:ext uri="{FF2B5EF4-FFF2-40B4-BE49-F238E27FC236}">
                <a16:creationId xmlns:a16="http://schemas.microsoft.com/office/drawing/2014/main" id="{96A0B76F-8010-4C62-B4B6-C5FC438C0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62" name="Rectangle 66">
            <a:extLst>
              <a:ext uri="{FF2B5EF4-FFF2-40B4-BE49-F238E27FC236}">
                <a16:creationId xmlns:a16="http://schemas.microsoft.com/office/drawing/2014/main" id="{B36BEBD5-A373-4C8C-8C06-CD8007E22F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useBgFill="1">
        <p:nvSpPr>
          <p:cNvPr id="64" name="Rectangle 68">
            <a:extLst>
              <a:ext uri="{FF2B5EF4-FFF2-40B4-BE49-F238E27FC236}">
                <a16:creationId xmlns:a16="http://schemas.microsoft.com/office/drawing/2014/main" id="{B8DD2392-397B-48BF-BEFA-EA1FB881C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Resim 8">
            <a:extLst>
              <a:ext uri="{FF2B5EF4-FFF2-40B4-BE49-F238E27FC236}">
                <a16:creationId xmlns:a16="http://schemas.microsoft.com/office/drawing/2014/main" id="{4400AD8C-F3B5-4F67-AB73-E963D67EC299}"/>
              </a:ext>
            </a:extLst>
          </p:cNvPr>
          <p:cNvPicPr>
            <a:picLocks noChangeAspect="1"/>
          </p:cNvPicPr>
          <p:nvPr/>
        </p:nvPicPr>
        <p:blipFill>
          <a:blip r:embed="rId2"/>
          <a:stretch>
            <a:fillRect/>
          </a:stretch>
        </p:blipFill>
        <p:spPr>
          <a:xfrm>
            <a:off x="-2930" y="-1"/>
            <a:ext cx="13080755" cy="6963975"/>
          </a:xfrm>
          <a:prstGeom prst="rect">
            <a:avLst/>
          </a:prstGeom>
        </p:spPr>
      </p:pic>
      <p:sp>
        <p:nvSpPr>
          <p:cNvPr id="2" name="Başlık 1">
            <a:extLst>
              <a:ext uri="{FF2B5EF4-FFF2-40B4-BE49-F238E27FC236}">
                <a16:creationId xmlns:a16="http://schemas.microsoft.com/office/drawing/2014/main" id="{1952B40D-1C54-9A91-AF3C-ECC44A720FA0}"/>
              </a:ext>
            </a:extLst>
          </p:cNvPr>
          <p:cNvSpPr>
            <a:spLocks noGrp="1"/>
          </p:cNvSpPr>
          <p:nvPr>
            <p:ph type="title"/>
          </p:nvPr>
        </p:nvSpPr>
        <p:spPr>
          <a:xfrm>
            <a:off x="584199" y="237616"/>
            <a:ext cx="11760197" cy="1482722"/>
          </a:xfrm>
        </p:spPr>
        <p:txBody>
          <a:bodyPr vert="horz" lIns="91440" tIns="45720" rIns="91440" bIns="45720" rtlCol="0" anchor="b">
            <a:noAutofit/>
          </a:bodyPr>
          <a:lstStyle/>
          <a:p>
            <a:pPr algn="ctr">
              <a:lnSpc>
                <a:spcPct val="90000"/>
              </a:lnSpc>
            </a:pPr>
            <a:r>
              <a:rPr lang="tr-TR" sz="4400" dirty="0">
                <a:solidFill>
                  <a:srgbClr val="FFFF00"/>
                </a:solidFill>
              </a:rPr>
              <a:t>Kronik böbrek yetmezliği tespiti </a:t>
            </a:r>
            <a:br>
              <a:rPr lang="tr-TR" sz="4400" dirty="0">
                <a:solidFill>
                  <a:srgbClr val="FFFF00"/>
                </a:solidFill>
              </a:rPr>
            </a:br>
            <a:endParaRPr lang="en-US" sz="4400" dirty="0">
              <a:solidFill>
                <a:srgbClr val="FFFF00"/>
              </a:solidFill>
            </a:endParaRPr>
          </a:p>
        </p:txBody>
      </p:sp>
      <p:sp>
        <p:nvSpPr>
          <p:cNvPr id="7" name="Metin kutusu 6">
            <a:extLst>
              <a:ext uri="{FF2B5EF4-FFF2-40B4-BE49-F238E27FC236}">
                <a16:creationId xmlns:a16="http://schemas.microsoft.com/office/drawing/2014/main" id="{C30FE69F-7E74-6A0B-FFAF-46392C75C692}"/>
              </a:ext>
            </a:extLst>
          </p:cNvPr>
          <p:cNvSpPr txBox="1"/>
          <p:nvPr/>
        </p:nvSpPr>
        <p:spPr>
          <a:xfrm>
            <a:off x="431803" y="6142420"/>
            <a:ext cx="11760197"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cap="all" dirty="0">
                <a:solidFill>
                  <a:srgbClr val="FFFF00"/>
                </a:solidFill>
              </a:rPr>
              <a:t>HAZIRLAYAN: YASİN</a:t>
            </a:r>
            <a:r>
              <a:rPr lang="tr-TR" sz="2500" cap="all" dirty="0">
                <a:solidFill>
                  <a:srgbClr val="FFFF00"/>
                </a:solidFill>
              </a:rPr>
              <a:t> karaçam</a:t>
            </a:r>
          </a:p>
        </p:txBody>
      </p:sp>
    </p:spTree>
    <p:extLst>
      <p:ext uri="{BB962C8B-B14F-4D97-AF65-F5344CB8AC3E}">
        <p14:creationId xmlns:p14="http://schemas.microsoft.com/office/powerpoint/2010/main" val="364591357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9">
            <a:extLst>
              <a:ext uri="{FF2B5EF4-FFF2-40B4-BE49-F238E27FC236}">
                <a16:creationId xmlns:a16="http://schemas.microsoft.com/office/drawing/2014/main" id="{879A26B8-6C4E-452B-ADD3-ED324A7AB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1">
            <a:extLst>
              <a:ext uri="{FF2B5EF4-FFF2-40B4-BE49-F238E27FC236}">
                <a16:creationId xmlns:a16="http://schemas.microsoft.com/office/drawing/2014/main" id="{9B4167E1-E2B0-4192-8DA2-6967DDFF8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560996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13">
            <a:extLst>
              <a:ext uri="{FF2B5EF4-FFF2-40B4-BE49-F238E27FC236}">
                <a16:creationId xmlns:a16="http://schemas.microsoft.com/office/drawing/2014/main" id="{D03E4FEE-2E6A-44AB-B6BA-C1AD0CD6D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560581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15">
            <a:extLst>
              <a:ext uri="{FF2B5EF4-FFF2-40B4-BE49-F238E27FC236}">
                <a16:creationId xmlns:a16="http://schemas.microsoft.com/office/drawing/2014/main" id="{0817EB59-13B3-43DA-9B91-A7CC174A6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4318" y="457200"/>
            <a:ext cx="5600007"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İçerik Yer Tutucusu 3">
            <a:extLst>
              <a:ext uri="{FF2B5EF4-FFF2-40B4-BE49-F238E27FC236}">
                <a16:creationId xmlns:a16="http://schemas.microsoft.com/office/drawing/2014/main" id="{18DBBE76-629E-54AC-8A4F-B646AF752A96}"/>
              </a:ext>
            </a:extLst>
          </p:cNvPr>
          <p:cNvSpPr>
            <a:spLocks noGrp="1"/>
          </p:cNvSpPr>
          <p:nvPr>
            <p:ph idx="1"/>
          </p:nvPr>
        </p:nvSpPr>
        <p:spPr>
          <a:xfrm>
            <a:off x="773749" y="1281410"/>
            <a:ext cx="4947221" cy="5006979"/>
          </a:xfrm>
        </p:spPr>
        <p:txBody>
          <a:bodyPr>
            <a:normAutofit fontScale="70000" lnSpcReduction="20000"/>
          </a:bodyPr>
          <a:lstStyle/>
          <a:p>
            <a:pPr marL="0" indent="0">
              <a:buNone/>
            </a:pPr>
            <a:r>
              <a:rPr lang="tr-TR" b="1" cap="all" dirty="0">
                <a:solidFill>
                  <a:srgbClr val="FFFFFF"/>
                </a:solidFill>
                <a:ea typeface="+mn-lt"/>
                <a:cs typeface="+mn-lt"/>
              </a:rPr>
              <a:t> kronik böbrek yetmezliği nedir ? </a:t>
            </a:r>
          </a:p>
          <a:p>
            <a:r>
              <a:rPr lang="tr-TR" b="1" dirty="0"/>
              <a:t>Böbrekler:</a:t>
            </a:r>
            <a:r>
              <a:rPr lang="tr-TR" dirty="0"/>
              <a:t> Vücudun "arıtma tesisidir". Kandaki atık maddeleri, toksinleri ve fazla suyu süzerek idrar yoluyla atılmasını sağlar, ayrıca kan basıncını ve elektrolit dengesini düzenler.</a:t>
            </a:r>
          </a:p>
          <a:p>
            <a:endParaRPr lang="tr-TR" b="1" dirty="0"/>
          </a:p>
          <a:p>
            <a:r>
              <a:rPr lang="tr-TR" b="1" dirty="0"/>
              <a:t>Kronik Böbrek Yetmezliği (CKD):</a:t>
            </a:r>
            <a:r>
              <a:rPr lang="tr-TR" dirty="0"/>
              <a:t> Arıtma tesisinin filtrelerinin tıkanması veya kalıcı olarak hasar görmesidir. Böbreklerin kanı temizleme işlevini zaman içinde ve geri dönüşümsüz olarak kaybetmesi durumudur.</a:t>
            </a:r>
          </a:p>
          <a:p>
            <a:pPr marL="0" indent="0">
              <a:buNone/>
            </a:pPr>
            <a:endParaRPr lang="tr-TR" dirty="0">
              <a:solidFill>
                <a:srgbClr val="FFFFFF"/>
              </a:solidFill>
            </a:endParaRPr>
          </a:p>
          <a:p>
            <a:r>
              <a:rPr lang="tr-TR" b="1" dirty="0"/>
              <a:t>Neden Önemli?:</a:t>
            </a:r>
            <a:r>
              <a:rPr lang="tr-TR" dirty="0"/>
              <a:t> Başlangıç evrelerinde genellikle sinsice ilerler ve belirgin bir semptom göstermez; teşhis gecikirse kanda üre ve toksin birikimine, ciddi kalp-damar hastalıklarına ve nihayetinde diyaliz veya böbrek nakli gerektiren son dönem böbrek yetmezliğine yol açabilir.</a:t>
            </a:r>
          </a:p>
          <a:p>
            <a:endParaRPr lang="tr-TR" b="1" dirty="0"/>
          </a:p>
          <a:p>
            <a:r>
              <a:rPr lang="tr-TR" b="1" dirty="0"/>
              <a:t>Yapay Zeka Neden Devrede?:</a:t>
            </a:r>
            <a:r>
              <a:rPr lang="tr-TR" dirty="0"/>
              <a:t> Teşhis sadece tek bir değere bakılarak değil; hastanın kan basıncı (</a:t>
            </a:r>
            <a:r>
              <a:rPr lang="tr-TR" dirty="0" err="1"/>
              <a:t>bp</a:t>
            </a:r>
            <a:r>
              <a:rPr lang="tr-TR" dirty="0"/>
              <a:t>), idrardaki albümin kaçağı (al), serum </a:t>
            </a:r>
            <a:r>
              <a:rPr lang="tr-TR" dirty="0" err="1"/>
              <a:t>kreatinin</a:t>
            </a:r>
            <a:r>
              <a:rPr lang="tr-TR" dirty="0"/>
              <a:t> (</a:t>
            </a:r>
            <a:r>
              <a:rPr lang="tr-TR" dirty="0" err="1"/>
              <a:t>sc</a:t>
            </a:r>
            <a:r>
              <a:rPr lang="tr-TR" dirty="0"/>
              <a:t>), kan üresi (bu), hemoglobin (</a:t>
            </a:r>
            <a:r>
              <a:rPr lang="tr-TR" dirty="0" err="1"/>
              <a:t>hemo</a:t>
            </a:r>
            <a:r>
              <a:rPr lang="tr-TR" dirty="0"/>
              <a:t>) seviyeleri ile hipertansiyon (</a:t>
            </a:r>
            <a:r>
              <a:rPr lang="tr-TR" dirty="0" err="1"/>
              <a:t>htn</a:t>
            </a:r>
            <a:r>
              <a:rPr lang="tr-TR" dirty="0"/>
              <a:t>) ve diyabet (dm) gibi 24 farklı klinik ve laboratuvar verisinin birbirleriyle olan karmaşık ilişkisi analiz edilerek konur. YSA (Yapay Sinir Ağları) ve diğer yapay zeka modelleri, bu çok boyutlu sağlık verileri arasındaki görünmez kalıpları yakalayarak hastalığı erken evrede tespit etmek için idealdir.</a:t>
            </a:r>
          </a:p>
          <a:p>
            <a:pPr marL="0" indent="0">
              <a:buNone/>
            </a:pPr>
            <a:endParaRPr lang="tr-TR" dirty="0">
              <a:solidFill>
                <a:srgbClr val="FFFFFF"/>
              </a:solidFill>
            </a:endParaRPr>
          </a:p>
          <a:p>
            <a:pPr marL="305435" indent="-305435"/>
            <a:endParaRPr lang="tr-TR" dirty="0">
              <a:solidFill>
                <a:srgbClr val="FFFFFF"/>
              </a:solidFill>
            </a:endParaRPr>
          </a:p>
        </p:txBody>
      </p:sp>
      <p:pic>
        <p:nvPicPr>
          <p:cNvPr id="1028" name="Picture 4">
            <a:extLst>
              <a:ext uri="{FF2B5EF4-FFF2-40B4-BE49-F238E27FC236}">
                <a16:creationId xmlns:a16="http://schemas.microsoft.com/office/drawing/2014/main" id="{71331B2D-D9F7-4EE5-AFD9-22E0947596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3354" y="1227633"/>
            <a:ext cx="5322009" cy="4766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9145848"/>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3CAC3A-3D09-D839-44E7-AC8B48EF0F2E}"/>
            </a:ext>
          </a:extLst>
        </p:cNvPr>
        <p:cNvGrpSpPr/>
        <p:nvPr/>
      </p:nvGrpSpPr>
      <p:grpSpPr>
        <a:xfrm>
          <a:off x="0" y="0"/>
          <a:ext cx="0" cy="0"/>
          <a:chOff x="0" y="0"/>
          <a:chExt cx="0" cy="0"/>
        </a:xfrm>
      </p:grpSpPr>
      <p:sp>
        <p:nvSpPr>
          <p:cNvPr id="17" name="Rectangle 7">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9">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11">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13">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useBgFill="1">
        <p:nvSpPr>
          <p:cNvPr id="25" name="Rectangle 15">
            <a:extLst>
              <a:ext uri="{FF2B5EF4-FFF2-40B4-BE49-F238E27FC236}">
                <a16:creationId xmlns:a16="http://schemas.microsoft.com/office/drawing/2014/main" id="{0883F11E-ECB3-4046-A121-A45C6FF631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10F0E87-FAC1-50A0-115E-644C9215970B}"/>
              </a:ext>
            </a:extLst>
          </p:cNvPr>
          <p:cNvSpPr>
            <a:spLocks noGrp="1"/>
          </p:cNvSpPr>
          <p:nvPr>
            <p:ph type="title"/>
          </p:nvPr>
        </p:nvSpPr>
        <p:spPr>
          <a:xfrm>
            <a:off x="581192" y="1370517"/>
            <a:ext cx="5708356" cy="1982571"/>
          </a:xfrm>
        </p:spPr>
        <p:txBody>
          <a:bodyPr vert="horz" lIns="91440" tIns="45720" rIns="91440" bIns="45720" rtlCol="0" anchor="b">
            <a:normAutofit/>
          </a:bodyPr>
          <a:lstStyle/>
          <a:p>
            <a:pPr algn="ctr"/>
            <a:br>
              <a:rPr lang="tr-TR" sz="3600" dirty="0">
                <a:solidFill>
                  <a:schemeClr val="accent1"/>
                </a:solidFill>
              </a:rPr>
            </a:br>
            <a:r>
              <a:rPr lang="en-US" sz="3600" dirty="0">
                <a:solidFill>
                  <a:schemeClr val="accent1"/>
                </a:solidFill>
              </a:rPr>
              <a:t>Veri Set</a:t>
            </a:r>
            <a:r>
              <a:rPr lang="tr-TR" sz="3600" dirty="0">
                <a:solidFill>
                  <a:schemeClr val="accent1"/>
                </a:solidFill>
              </a:rPr>
              <a:t>ini inceleyelim </a:t>
            </a:r>
            <a:endParaRPr lang="en-US" sz="3600" dirty="0">
              <a:solidFill>
                <a:schemeClr val="accent1"/>
              </a:solidFill>
            </a:endParaRPr>
          </a:p>
        </p:txBody>
      </p:sp>
      <p:sp>
        <p:nvSpPr>
          <p:cNvPr id="26" name="Rectangle 17">
            <a:extLst>
              <a:ext uri="{FF2B5EF4-FFF2-40B4-BE49-F238E27FC236}">
                <a16:creationId xmlns:a16="http://schemas.microsoft.com/office/drawing/2014/main" id="{5CF77191-9839-40D9-B04E-85DF01BB02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052796"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19">
            <a:extLst>
              <a:ext uri="{FF2B5EF4-FFF2-40B4-BE49-F238E27FC236}">
                <a16:creationId xmlns:a16="http://schemas.microsoft.com/office/drawing/2014/main" id="{BF007B11-F4C3-4A9E-AAA8-D52C8C1AD9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91306" y="457200"/>
            <a:ext cx="3052798"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871D0F6C-C993-4E97-A103-9448E35FE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6079" y="453643"/>
            <a:ext cx="5009388"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7B28B346-1639-4F05-9EBC-808A9DC665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6079" y="723899"/>
            <a:ext cx="5009388"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050" name="Picture 2" descr="veri-analizi-nedir-ve-nasil-yapilir">
            <a:extLst>
              <a:ext uri="{FF2B5EF4-FFF2-40B4-BE49-F238E27FC236}">
                <a16:creationId xmlns:a16="http://schemas.microsoft.com/office/drawing/2014/main" id="{DB08A844-FB7D-4539-8219-93E14BC855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0166" y="1765588"/>
            <a:ext cx="4440642" cy="3175000"/>
          </a:xfrm>
          <a:prstGeom prst="rect">
            <a:avLst/>
          </a:prstGeom>
          <a:noFill/>
          <a:extLst>
            <a:ext uri="{909E8E84-426E-40DD-AFC4-6F175D3DCCD1}">
              <a14:hiddenFill xmlns:a14="http://schemas.microsoft.com/office/drawing/2010/main">
                <a:solidFill>
                  <a:srgbClr val="FFFFFF"/>
                </a:solidFill>
              </a14:hiddenFill>
            </a:ext>
          </a:extLst>
        </p:spPr>
      </p:pic>
      <p:sp>
        <p:nvSpPr>
          <p:cNvPr id="4" name="Metin kutusu 3">
            <a:extLst>
              <a:ext uri="{FF2B5EF4-FFF2-40B4-BE49-F238E27FC236}">
                <a16:creationId xmlns:a16="http://schemas.microsoft.com/office/drawing/2014/main" id="{932D55F7-0E18-4C49-9D9C-529781713F33}"/>
              </a:ext>
            </a:extLst>
          </p:cNvPr>
          <p:cNvSpPr txBox="1"/>
          <p:nvPr/>
        </p:nvSpPr>
        <p:spPr>
          <a:xfrm>
            <a:off x="2929458" y="3372566"/>
            <a:ext cx="877163" cy="369332"/>
          </a:xfrm>
          <a:prstGeom prst="rect">
            <a:avLst/>
          </a:prstGeom>
          <a:noFill/>
        </p:spPr>
        <p:txBody>
          <a:bodyPr wrap="none" rtlCol="0">
            <a:spAutoFit/>
          </a:bodyPr>
          <a:lstStyle/>
          <a:p>
            <a:r>
              <a:rPr lang="tr-TR" dirty="0"/>
              <a:t>400x24</a:t>
            </a:r>
          </a:p>
        </p:txBody>
      </p:sp>
    </p:spTree>
    <p:extLst>
      <p:ext uri="{BB962C8B-B14F-4D97-AF65-F5344CB8AC3E}">
        <p14:creationId xmlns:p14="http://schemas.microsoft.com/office/powerpoint/2010/main" val="4271539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1">
            <a:extLst>
              <a:ext uri="{FF2B5EF4-FFF2-40B4-BE49-F238E27FC236}">
                <a16:creationId xmlns:a16="http://schemas.microsoft.com/office/drawing/2014/main" id="{636F6DB7-CF8D-494A-82F6-13B58DCA9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3">
            <a:extLst>
              <a:ext uri="{FF2B5EF4-FFF2-40B4-BE49-F238E27FC236}">
                <a16:creationId xmlns:a16="http://schemas.microsoft.com/office/drawing/2014/main" id="{0B7E5194-6E82-4A44-99C3-FE7D87F34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370747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4" name="Metin kutusu 3">
            <a:extLst>
              <a:ext uri="{FF2B5EF4-FFF2-40B4-BE49-F238E27FC236}">
                <a16:creationId xmlns:a16="http://schemas.microsoft.com/office/drawing/2014/main" id="{5E88C2EB-FB07-9185-1098-B1EF02796F0C}"/>
              </a:ext>
            </a:extLst>
          </p:cNvPr>
          <p:cNvSpPr txBox="1"/>
          <p:nvPr/>
        </p:nvSpPr>
        <p:spPr>
          <a:xfrm>
            <a:off x="764110" y="1105746"/>
            <a:ext cx="3171905" cy="1013800"/>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fontScale="92500" lnSpcReduction="20000"/>
          </a:bodyPr>
          <a:lstStyle/>
          <a:p>
            <a:pPr algn="ctr" defTabSz="457200">
              <a:spcBef>
                <a:spcPct val="0"/>
              </a:spcBef>
              <a:spcAft>
                <a:spcPts val="600"/>
              </a:spcAft>
            </a:pPr>
            <a:r>
              <a:rPr lang="en-US" sz="2400" cap="all" dirty="0" err="1">
                <a:solidFill>
                  <a:srgbClr val="FFFFFF"/>
                </a:solidFill>
                <a:latin typeface="+mj-lt"/>
                <a:ea typeface="+mj-ea"/>
                <a:cs typeface="+mj-cs"/>
              </a:rPr>
              <a:t>Demografik</a:t>
            </a:r>
            <a:r>
              <a:rPr lang="en-US" sz="2400" cap="all" dirty="0">
                <a:solidFill>
                  <a:srgbClr val="FFFFFF"/>
                </a:solidFill>
                <a:latin typeface="+mj-lt"/>
                <a:ea typeface="+mj-ea"/>
                <a:cs typeface="+mj-cs"/>
              </a:rPr>
              <a:t> </a:t>
            </a:r>
            <a:r>
              <a:rPr lang="en-US" sz="2400" cap="all" dirty="0" err="1">
                <a:solidFill>
                  <a:srgbClr val="FFFFFF"/>
                </a:solidFill>
                <a:latin typeface="+mj-lt"/>
                <a:ea typeface="+mj-ea"/>
                <a:cs typeface="+mj-cs"/>
              </a:rPr>
              <a:t>Bilgiler</a:t>
            </a:r>
            <a:r>
              <a:rPr lang="en-US" sz="2400" cap="all" dirty="0">
                <a:solidFill>
                  <a:srgbClr val="FFFFFF"/>
                </a:solidFill>
                <a:latin typeface="+mj-lt"/>
                <a:ea typeface="+mj-ea"/>
                <a:cs typeface="+mj-cs"/>
              </a:rPr>
              <a:t> </a:t>
            </a:r>
            <a:r>
              <a:rPr lang="en-US" sz="2400" cap="all" dirty="0" err="1">
                <a:solidFill>
                  <a:srgbClr val="FFFFFF"/>
                </a:solidFill>
                <a:latin typeface="+mj-lt"/>
                <a:ea typeface="+mj-ea"/>
                <a:cs typeface="+mj-cs"/>
              </a:rPr>
              <a:t>ve</a:t>
            </a:r>
            <a:r>
              <a:rPr lang="en-US" sz="2400" cap="all" dirty="0">
                <a:solidFill>
                  <a:srgbClr val="FFFFFF"/>
                </a:solidFill>
                <a:latin typeface="+mj-lt"/>
                <a:ea typeface="+mj-ea"/>
                <a:cs typeface="+mj-cs"/>
              </a:rPr>
              <a:t> </a:t>
            </a:r>
            <a:r>
              <a:rPr lang="en-US" sz="2400" cap="all" dirty="0" err="1">
                <a:solidFill>
                  <a:srgbClr val="FFFFFF"/>
                </a:solidFill>
                <a:latin typeface="+mj-lt"/>
                <a:ea typeface="+mj-ea"/>
                <a:cs typeface="+mj-cs"/>
              </a:rPr>
              <a:t>Yaşamsal</a:t>
            </a:r>
            <a:r>
              <a:rPr lang="en-US" sz="2400" cap="all" dirty="0">
                <a:solidFill>
                  <a:srgbClr val="FFFFFF"/>
                </a:solidFill>
                <a:latin typeface="+mj-lt"/>
                <a:ea typeface="+mj-ea"/>
                <a:cs typeface="+mj-cs"/>
              </a:rPr>
              <a:t> </a:t>
            </a:r>
            <a:r>
              <a:rPr lang="en-US" sz="2400" cap="all" dirty="0" err="1">
                <a:solidFill>
                  <a:srgbClr val="FFFFFF"/>
                </a:solidFill>
                <a:latin typeface="+mj-lt"/>
                <a:ea typeface="+mj-ea"/>
                <a:cs typeface="+mj-cs"/>
              </a:rPr>
              <a:t>Bulgular</a:t>
            </a:r>
            <a:r>
              <a:rPr lang="en-US" sz="2400" cap="all" dirty="0">
                <a:solidFill>
                  <a:srgbClr val="FFFFFF"/>
                </a:solidFill>
                <a:latin typeface="+mj-lt"/>
                <a:ea typeface="+mj-ea"/>
                <a:cs typeface="+mj-cs"/>
              </a:rPr>
              <a:t>:</a:t>
            </a:r>
          </a:p>
          <a:p>
            <a:pPr defTabSz="457200">
              <a:spcBef>
                <a:spcPct val="0"/>
              </a:spcBef>
              <a:spcAft>
                <a:spcPts val="600"/>
              </a:spcAft>
            </a:pPr>
            <a:endParaRPr lang="en-US" sz="2400" cap="all" dirty="0">
              <a:solidFill>
                <a:srgbClr val="FFFFFF"/>
              </a:solidFill>
              <a:latin typeface="+mj-lt"/>
              <a:ea typeface="+mj-ea"/>
              <a:cs typeface="+mj-cs"/>
            </a:endParaRPr>
          </a:p>
        </p:txBody>
      </p:sp>
      <p:grpSp>
        <p:nvGrpSpPr>
          <p:cNvPr id="32" name="Group 25">
            <a:extLst>
              <a:ext uri="{FF2B5EF4-FFF2-40B4-BE49-F238E27FC236}">
                <a16:creationId xmlns:a16="http://schemas.microsoft.com/office/drawing/2014/main" id="{49FCC1E1-84D3-494D-A0A0-286AFA1C30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33" name="Rectangle 26">
              <a:extLst>
                <a:ext uri="{FF2B5EF4-FFF2-40B4-BE49-F238E27FC236}">
                  <a16:creationId xmlns:a16="http://schemas.microsoft.com/office/drawing/2014/main" id="{96E09E90-FF79-402E-AF01-97A279BEA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27">
              <a:extLst>
                <a:ext uri="{FF2B5EF4-FFF2-40B4-BE49-F238E27FC236}">
                  <a16:creationId xmlns:a16="http://schemas.microsoft.com/office/drawing/2014/main" id="{EC6946F8-4B9B-4C51-9F51-2DB377392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35" name="Rectangle 28">
              <a:extLst>
                <a:ext uri="{FF2B5EF4-FFF2-40B4-BE49-F238E27FC236}">
                  <a16:creationId xmlns:a16="http://schemas.microsoft.com/office/drawing/2014/main" id="{7B3D2B3D-A285-438C-A344-AED3E46A07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3" name="İçerik Yer Tutucusu 2">
            <a:extLst>
              <a:ext uri="{FF2B5EF4-FFF2-40B4-BE49-F238E27FC236}">
                <a16:creationId xmlns:a16="http://schemas.microsoft.com/office/drawing/2014/main" id="{95D170DF-2176-6649-FAFB-8748897CB10A}"/>
              </a:ext>
            </a:extLst>
          </p:cNvPr>
          <p:cNvSpPr>
            <a:spLocks noGrp="1"/>
          </p:cNvSpPr>
          <p:nvPr>
            <p:ph idx="1"/>
          </p:nvPr>
        </p:nvSpPr>
        <p:spPr>
          <a:xfrm>
            <a:off x="389744" y="1805445"/>
            <a:ext cx="3812741" cy="3856229"/>
          </a:xfrm>
        </p:spPr>
        <p:txBody>
          <a:bodyPr vert="horz" lIns="91440" tIns="45720" rIns="91440" bIns="45720" rtlCol="0" anchor="t">
            <a:normAutofit fontScale="25000" lnSpcReduction="20000"/>
          </a:bodyPr>
          <a:lstStyle/>
          <a:p>
            <a:pPr>
              <a:buFont typeface="Arial" panose="020B0604020202020204" pitchFamily="34" charset="0"/>
              <a:buChar char="•"/>
            </a:pPr>
            <a:r>
              <a:rPr lang="tr-TR" sz="3800" dirty="0"/>
              <a:t>Yaş (</a:t>
            </a:r>
            <a:r>
              <a:rPr lang="tr-TR" sz="3800" dirty="0" err="1"/>
              <a:t>age</a:t>
            </a:r>
            <a:r>
              <a:rPr lang="tr-TR" sz="3800" dirty="0"/>
              <a:t>): Hastanın yaşı.</a:t>
            </a:r>
          </a:p>
          <a:p>
            <a:pPr>
              <a:buFont typeface="Arial" panose="020B0604020202020204" pitchFamily="34" charset="0"/>
              <a:buChar char="•"/>
            </a:pPr>
            <a:r>
              <a:rPr lang="tr-TR" sz="3800" dirty="0"/>
              <a:t>Kan Basıncı / Tansiyon (</a:t>
            </a:r>
            <a:r>
              <a:rPr lang="tr-TR" sz="3800" dirty="0" err="1"/>
              <a:t>bp</a:t>
            </a:r>
            <a:r>
              <a:rPr lang="tr-TR" sz="3800" dirty="0"/>
              <a:t>): Böbrek sağlığı ile doğrudan ilişkili olan damar içi basınç.</a:t>
            </a:r>
          </a:p>
          <a:p>
            <a:pPr marL="0" indent="0" algn="ctr">
              <a:buNone/>
            </a:pPr>
            <a:r>
              <a:rPr lang="tr-TR" sz="5500" b="1" dirty="0"/>
              <a:t>Altın Standart Laboratuvar Testleri:</a:t>
            </a:r>
            <a:endParaRPr lang="tr-TR" sz="5500" dirty="0"/>
          </a:p>
          <a:p>
            <a:pPr>
              <a:buFont typeface="Arial" panose="020B0604020202020204" pitchFamily="34" charset="0"/>
              <a:buChar char="•"/>
            </a:pPr>
            <a:r>
              <a:rPr lang="tr-TR" sz="3800" dirty="0"/>
              <a:t>Serum </a:t>
            </a:r>
            <a:r>
              <a:rPr lang="tr-TR" sz="3800" dirty="0" err="1"/>
              <a:t>Kreatinin</a:t>
            </a:r>
            <a:r>
              <a:rPr lang="tr-TR" sz="3800" dirty="0"/>
              <a:t> (</a:t>
            </a:r>
            <a:r>
              <a:rPr lang="tr-TR" sz="3800" dirty="0" err="1"/>
              <a:t>sc</a:t>
            </a:r>
            <a:r>
              <a:rPr lang="tr-TR" sz="3800" dirty="0"/>
              <a:t>) ve Kan Üresi (bu): Kandaki temel atık maddelerdir. (Böbreklerin süzme yeteneği azaldığında bu toksinler vücuttan atılamaz ve kanda çok yüksek çıkarlar).</a:t>
            </a:r>
          </a:p>
          <a:p>
            <a:pPr>
              <a:buFont typeface="Arial" panose="020B0604020202020204" pitchFamily="34" charset="0"/>
              <a:buChar char="•"/>
            </a:pPr>
            <a:r>
              <a:rPr lang="tr-TR" sz="3800" dirty="0"/>
              <a:t>İdrarda Albümin (al): Böbrek filtrelerinin sağlamlığının en önemli göstergesidir. (Filtreler hasar gördüğünde proteinler idrara sızar, yetmezlikte bu değer yüksek çıkar).</a:t>
            </a:r>
          </a:p>
          <a:p>
            <a:pPr>
              <a:buFont typeface="Arial" panose="020B0604020202020204" pitchFamily="34" charset="0"/>
              <a:buChar char="•"/>
            </a:pPr>
            <a:r>
              <a:rPr lang="tr-TR" sz="3800" dirty="0"/>
              <a:t>Hemoglobin (</a:t>
            </a:r>
            <a:r>
              <a:rPr lang="tr-TR" sz="3800" dirty="0" err="1"/>
              <a:t>hemo</a:t>
            </a:r>
            <a:r>
              <a:rPr lang="tr-TR" sz="3800" dirty="0"/>
              <a:t>): Kandaki kırmızı kan hücrelerinin seviyesini gösterir. (Böbrekler kan yapımını uyaran hormonu yeterince üretemediği için böbrek hastalarında genellikle düşük çıkar).</a:t>
            </a:r>
          </a:p>
          <a:p>
            <a:r>
              <a:rPr lang="tr-TR" sz="6000" b="1" dirty="0"/>
              <a:t>Klinik Geçmiş ve Durumlar:</a:t>
            </a:r>
          </a:p>
          <a:p>
            <a:pPr>
              <a:buFont typeface="Arial" panose="020B0604020202020204" pitchFamily="34" charset="0"/>
              <a:buChar char="•"/>
            </a:pPr>
            <a:r>
              <a:rPr lang="tr-TR" sz="4000" dirty="0" err="1"/>
              <a:t>htn</a:t>
            </a:r>
            <a:r>
              <a:rPr lang="tr-TR" sz="4000" dirty="0"/>
              <a:t> (Hipertansiyon) ve dm (Diyabet): Böbrek yetmezliğinin en yaygın iki ana tetikleyicisidir. Hastanın kronik şeker hastalığı veya yüksek tansiyon geçmişi var mı?</a:t>
            </a:r>
          </a:p>
          <a:p>
            <a:pPr>
              <a:buFont typeface="Arial" panose="020B0604020202020204" pitchFamily="34" charset="0"/>
              <a:buChar char="•"/>
            </a:pPr>
            <a:r>
              <a:rPr lang="tr-TR" sz="4000" dirty="0"/>
              <a:t>pe (Pedal Ödem) ve </a:t>
            </a:r>
            <a:r>
              <a:rPr lang="tr-TR" sz="4000" dirty="0" err="1"/>
              <a:t>ane</a:t>
            </a:r>
            <a:r>
              <a:rPr lang="tr-TR" sz="4000" dirty="0"/>
              <a:t> (Anemi): Böbreklerin fazla suyu atamamasına bağlı bacaklarda/ayaklarda şişlik (ödem) veya böbrek kaynaklı kansızlık (anemi) belirtileri mevcut mu?</a:t>
            </a:r>
          </a:p>
          <a:p>
            <a:r>
              <a:rPr lang="tr-TR" sz="4000" dirty="0"/>
              <a:t>Hedef Değişken (</a:t>
            </a:r>
            <a:r>
              <a:rPr lang="tr-TR" sz="4000" dirty="0" err="1"/>
              <a:t>Target</a:t>
            </a:r>
            <a:r>
              <a:rPr lang="tr-TR" sz="4000" dirty="0"/>
              <a:t>):</a:t>
            </a:r>
          </a:p>
          <a:p>
            <a:pPr>
              <a:buFont typeface="Arial" panose="020B0604020202020204" pitchFamily="34" charset="0"/>
              <a:buChar char="•"/>
            </a:pPr>
            <a:r>
              <a:rPr lang="tr-TR" sz="4000" dirty="0" err="1"/>
              <a:t>classification</a:t>
            </a:r>
            <a:r>
              <a:rPr lang="tr-TR" sz="4000" dirty="0"/>
              <a:t> (Sınıflandırma) -&gt; </a:t>
            </a:r>
            <a:r>
              <a:rPr lang="tr-TR" sz="4000" dirty="0" err="1"/>
              <a:t>notckd</a:t>
            </a:r>
            <a:r>
              <a:rPr lang="tr-TR" sz="4000" dirty="0"/>
              <a:t> (0): Sağlıklı, </a:t>
            </a:r>
            <a:r>
              <a:rPr lang="tr-TR" sz="4000" dirty="0" err="1"/>
              <a:t>ckd</a:t>
            </a:r>
            <a:r>
              <a:rPr lang="tr-TR" sz="4000" dirty="0"/>
              <a:t> (1): Kronik Böbrek Yetmezliği Hastası</a:t>
            </a:r>
            <a:r>
              <a:rPr lang="tr-TR" sz="1600" dirty="0"/>
              <a:t>.</a:t>
            </a:r>
          </a:p>
        </p:txBody>
      </p:sp>
      <p:pic>
        <p:nvPicPr>
          <p:cNvPr id="7" name="Resim 6">
            <a:extLst>
              <a:ext uri="{FF2B5EF4-FFF2-40B4-BE49-F238E27FC236}">
                <a16:creationId xmlns:a16="http://schemas.microsoft.com/office/drawing/2014/main" id="{414830DB-0249-4CB7-83CE-5E8CA7F5F683}"/>
              </a:ext>
            </a:extLst>
          </p:cNvPr>
          <p:cNvPicPr>
            <a:picLocks noChangeAspect="1"/>
          </p:cNvPicPr>
          <p:nvPr/>
        </p:nvPicPr>
        <p:blipFill>
          <a:blip r:embed="rId2"/>
          <a:stretch>
            <a:fillRect/>
          </a:stretch>
        </p:blipFill>
        <p:spPr>
          <a:xfrm>
            <a:off x="4686787" y="3420293"/>
            <a:ext cx="7058680" cy="1587686"/>
          </a:xfrm>
          <a:prstGeom prst="rect">
            <a:avLst/>
          </a:prstGeom>
        </p:spPr>
      </p:pic>
      <p:pic>
        <p:nvPicPr>
          <p:cNvPr id="9" name="Resim 8">
            <a:extLst>
              <a:ext uri="{FF2B5EF4-FFF2-40B4-BE49-F238E27FC236}">
                <a16:creationId xmlns:a16="http://schemas.microsoft.com/office/drawing/2014/main" id="{DEF69A92-90B4-41C3-A100-0B52169ECD66}"/>
              </a:ext>
            </a:extLst>
          </p:cNvPr>
          <p:cNvPicPr>
            <a:picLocks noChangeAspect="1"/>
          </p:cNvPicPr>
          <p:nvPr/>
        </p:nvPicPr>
        <p:blipFill>
          <a:blip r:embed="rId3"/>
          <a:stretch>
            <a:fillRect/>
          </a:stretch>
        </p:blipFill>
        <p:spPr>
          <a:xfrm>
            <a:off x="4592231" y="1260019"/>
            <a:ext cx="7103881" cy="1584129"/>
          </a:xfrm>
          <a:prstGeom prst="rect">
            <a:avLst/>
          </a:prstGeom>
        </p:spPr>
      </p:pic>
    </p:spTree>
    <p:extLst>
      <p:ext uri="{BB962C8B-B14F-4D97-AF65-F5344CB8AC3E}">
        <p14:creationId xmlns:p14="http://schemas.microsoft.com/office/powerpoint/2010/main" val="3656146082"/>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79A26B8-6C4E-452B-ADD3-ED324A7AB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B4167E1-E2B0-4192-8DA2-6967DDFF8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560996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Başlık 1">
            <a:extLst>
              <a:ext uri="{FF2B5EF4-FFF2-40B4-BE49-F238E27FC236}">
                <a16:creationId xmlns:a16="http://schemas.microsoft.com/office/drawing/2014/main" id="{AE94A537-41A0-D9E7-F66F-2297D9A75655}"/>
              </a:ext>
            </a:extLst>
          </p:cNvPr>
          <p:cNvSpPr>
            <a:spLocks noGrp="1"/>
          </p:cNvSpPr>
          <p:nvPr>
            <p:ph type="title"/>
          </p:nvPr>
        </p:nvSpPr>
        <p:spPr>
          <a:xfrm>
            <a:off x="762121" y="960723"/>
            <a:ext cx="4968489" cy="1013800"/>
          </a:xfrm>
        </p:spPr>
        <p:txBody>
          <a:bodyPr vert="horz" lIns="91440" tIns="45720" rIns="91440" bIns="45720" rtlCol="0">
            <a:normAutofit/>
          </a:bodyPr>
          <a:lstStyle/>
          <a:p>
            <a:pPr algn="ctr"/>
            <a:r>
              <a:rPr lang="tr-TR" dirty="0">
                <a:solidFill>
                  <a:srgbClr val="FFFFFF"/>
                </a:solidFill>
              </a:rPr>
              <a:t>Verideki Durum: Tersine Sınıf Dengesizliği</a:t>
            </a:r>
          </a:p>
        </p:txBody>
      </p:sp>
      <p:sp>
        <p:nvSpPr>
          <p:cNvPr id="13" name="Rectangle 12">
            <a:extLst>
              <a:ext uri="{FF2B5EF4-FFF2-40B4-BE49-F238E27FC236}">
                <a16:creationId xmlns:a16="http://schemas.microsoft.com/office/drawing/2014/main" id="{D03E4FEE-2E6A-44AB-B6BA-C1AD0CD6D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560581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14">
            <a:extLst>
              <a:ext uri="{FF2B5EF4-FFF2-40B4-BE49-F238E27FC236}">
                <a16:creationId xmlns:a16="http://schemas.microsoft.com/office/drawing/2014/main" id="{0817EB59-13B3-43DA-9B91-A7CC174A6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4318" y="457200"/>
            <a:ext cx="5600007"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İçerik Yer Tutucusu 2">
            <a:extLst>
              <a:ext uri="{FF2B5EF4-FFF2-40B4-BE49-F238E27FC236}">
                <a16:creationId xmlns:a16="http://schemas.microsoft.com/office/drawing/2014/main" id="{DF4CCC27-086F-C92B-ABE1-C75D676CBD09}"/>
              </a:ext>
            </a:extLst>
          </p:cNvPr>
          <p:cNvSpPr>
            <a:spLocks noGrp="1"/>
          </p:cNvSpPr>
          <p:nvPr>
            <p:ph idx="1"/>
          </p:nvPr>
        </p:nvSpPr>
        <p:spPr>
          <a:xfrm>
            <a:off x="783387" y="2254102"/>
            <a:ext cx="4947221" cy="3650344"/>
          </a:xfrm>
        </p:spPr>
        <p:txBody>
          <a:bodyPr>
            <a:normAutofit fontScale="70000" lnSpcReduction="20000"/>
          </a:bodyPr>
          <a:lstStyle/>
          <a:p>
            <a:pPr marL="0" indent="0">
              <a:lnSpc>
                <a:spcPct val="90000"/>
              </a:lnSpc>
              <a:spcBef>
                <a:spcPts val="20"/>
              </a:spcBef>
            </a:pPr>
            <a:r>
              <a:rPr lang="tr-TR" b="1" dirty="0">
                <a:solidFill>
                  <a:srgbClr val="FFFFFF"/>
                </a:solidFill>
                <a:ea typeface="+mn-lt"/>
                <a:cs typeface="+mn-lt"/>
              </a:rPr>
              <a:t>Klinik Verilerin Doğası: </a:t>
            </a:r>
          </a:p>
          <a:p>
            <a:pPr marL="0" indent="0">
              <a:lnSpc>
                <a:spcPct val="90000"/>
              </a:lnSpc>
              <a:spcBef>
                <a:spcPts val="20"/>
              </a:spcBef>
              <a:buNone/>
            </a:pPr>
            <a:r>
              <a:rPr lang="tr-TR" dirty="0">
                <a:solidFill>
                  <a:srgbClr val="FFFFFF"/>
                </a:solidFill>
                <a:ea typeface="+mn-lt"/>
                <a:cs typeface="+mn-lt"/>
              </a:rPr>
              <a:t>	Normalde toplumda sağlıklı insanlar çoğunlukta olsa da, bu veri seti doğrudan bir böbrek kliniğinden toplandığı için hastalar çoğunluktadır. (250 KBY Hastası vs. 150 Sağlıklı).</a:t>
            </a:r>
          </a:p>
          <a:p>
            <a:pPr marL="0" indent="0">
              <a:lnSpc>
                <a:spcPct val="90000"/>
              </a:lnSpc>
              <a:spcBef>
                <a:spcPts val="20"/>
              </a:spcBef>
            </a:pPr>
            <a:endParaRPr lang="tr-TR" dirty="0">
              <a:solidFill>
                <a:srgbClr val="FFFFFF"/>
              </a:solidFill>
              <a:ea typeface="+mn-lt"/>
              <a:cs typeface="+mn-lt"/>
            </a:endParaRPr>
          </a:p>
          <a:p>
            <a:pPr marL="0" indent="0">
              <a:lnSpc>
                <a:spcPct val="90000"/>
              </a:lnSpc>
              <a:spcBef>
                <a:spcPts val="20"/>
              </a:spcBef>
            </a:pPr>
            <a:r>
              <a:rPr lang="tr-TR" dirty="0">
                <a:solidFill>
                  <a:srgbClr val="FFFFFF"/>
                </a:solidFill>
                <a:ea typeface="+mn-lt"/>
                <a:cs typeface="+mn-lt"/>
              </a:rPr>
              <a:t> </a:t>
            </a:r>
            <a:r>
              <a:rPr lang="tr-TR" b="1" dirty="0">
                <a:solidFill>
                  <a:srgbClr val="FFFFFF"/>
                </a:solidFill>
                <a:ea typeface="+mn-lt"/>
                <a:cs typeface="+mn-lt"/>
              </a:rPr>
              <a:t>Tehlike (Yanlılık Eğilimi): </a:t>
            </a:r>
          </a:p>
          <a:p>
            <a:pPr marL="0" indent="0">
              <a:lnSpc>
                <a:spcPct val="90000"/>
              </a:lnSpc>
              <a:spcBef>
                <a:spcPts val="20"/>
              </a:spcBef>
              <a:buNone/>
            </a:pPr>
            <a:r>
              <a:rPr lang="tr-TR" dirty="0">
                <a:solidFill>
                  <a:srgbClr val="FFFFFF"/>
                </a:solidFill>
                <a:ea typeface="+mn-lt"/>
                <a:cs typeface="+mn-lt"/>
              </a:rPr>
              <a:t> 	Model, karmaşık kan ve idrar tahlillerini öğrenmek yerine verideki çokluğa aldanıp herkese körü körüne "Hasta" deme kolaycılığına kaçarsa, hiçbir çaba harcamadan %62.5 oranında bir başlangıç doğruluğu (</a:t>
            </a:r>
            <a:r>
              <a:rPr lang="tr-TR" dirty="0" err="1">
                <a:solidFill>
                  <a:srgbClr val="FFFFFF"/>
                </a:solidFill>
                <a:ea typeface="+mn-lt"/>
                <a:cs typeface="+mn-lt"/>
              </a:rPr>
              <a:t>Accuracy</a:t>
            </a:r>
            <a:r>
              <a:rPr lang="tr-TR" dirty="0">
                <a:solidFill>
                  <a:srgbClr val="FFFFFF"/>
                </a:solidFill>
                <a:ea typeface="+mn-lt"/>
                <a:cs typeface="+mn-lt"/>
              </a:rPr>
              <a:t>) yakalayabilir. Ancak bu durum, sağlıklı insanların yanlışlıkla hasta olarak etiketlenmesine (Yanlış Pozitif) yol açar. </a:t>
            </a:r>
          </a:p>
          <a:p>
            <a:pPr marL="0" indent="0">
              <a:lnSpc>
                <a:spcPct val="90000"/>
              </a:lnSpc>
              <a:spcBef>
                <a:spcPts val="20"/>
              </a:spcBef>
            </a:pPr>
            <a:endParaRPr lang="tr-TR" b="1" dirty="0">
              <a:solidFill>
                <a:srgbClr val="FFFFFF"/>
              </a:solidFill>
              <a:ea typeface="+mn-lt"/>
              <a:cs typeface="+mn-lt"/>
            </a:endParaRPr>
          </a:p>
          <a:p>
            <a:pPr marL="0" indent="0">
              <a:lnSpc>
                <a:spcPct val="90000"/>
              </a:lnSpc>
              <a:spcBef>
                <a:spcPts val="20"/>
              </a:spcBef>
            </a:pPr>
            <a:r>
              <a:rPr lang="tr-TR" b="1" dirty="0">
                <a:solidFill>
                  <a:srgbClr val="FFFFFF"/>
                </a:solidFill>
                <a:ea typeface="+mn-lt"/>
                <a:cs typeface="+mn-lt"/>
              </a:rPr>
              <a:t>Mühendislik Çözümü (SMOTE veya Sınıf </a:t>
            </a:r>
            <a:r>
              <a:rPr lang="tr-TR" b="1" dirty="0" err="1">
                <a:solidFill>
                  <a:srgbClr val="FFFFFF"/>
                </a:solidFill>
                <a:ea typeface="+mn-lt"/>
                <a:cs typeface="+mn-lt"/>
              </a:rPr>
              <a:t>Ağırlıklandırması</a:t>
            </a:r>
            <a:r>
              <a:rPr lang="tr-TR" b="1" dirty="0">
                <a:solidFill>
                  <a:srgbClr val="FFFFFF"/>
                </a:solidFill>
                <a:ea typeface="+mn-lt"/>
                <a:cs typeface="+mn-lt"/>
              </a:rPr>
              <a:t>): </a:t>
            </a:r>
          </a:p>
          <a:p>
            <a:pPr marL="0" indent="0">
              <a:lnSpc>
                <a:spcPct val="90000"/>
              </a:lnSpc>
              <a:spcBef>
                <a:spcPts val="20"/>
              </a:spcBef>
              <a:buNone/>
            </a:pPr>
            <a:r>
              <a:rPr lang="tr-TR" dirty="0">
                <a:solidFill>
                  <a:srgbClr val="FFFFFF"/>
                </a:solidFill>
                <a:ea typeface="+mn-lt"/>
                <a:cs typeface="+mn-lt"/>
              </a:rPr>
              <a:t>	Bu hafif dengesizliği çözmek için iki yol izlenebilir: </a:t>
            </a:r>
            <a:r>
              <a:rPr lang="tr-TR" dirty="0" err="1">
                <a:solidFill>
                  <a:srgbClr val="FFFFFF"/>
                </a:solidFill>
                <a:ea typeface="+mn-lt"/>
                <a:cs typeface="+mn-lt"/>
              </a:rPr>
              <a:t>PyTorch'ta</a:t>
            </a:r>
            <a:r>
              <a:rPr lang="tr-TR" dirty="0">
                <a:solidFill>
                  <a:srgbClr val="FFFFFF"/>
                </a:solidFill>
                <a:ea typeface="+mn-lt"/>
                <a:cs typeface="+mn-lt"/>
              </a:rPr>
              <a:t> kayıp fonksiyonuna (</a:t>
            </a:r>
            <a:r>
              <a:rPr lang="tr-TR" dirty="0" err="1">
                <a:solidFill>
                  <a:srgbClr val="FFFFFF"/>
                </a:solidFill>
                <a:ea typeface="+mn-lt"/>
                <a:cs typeface="+mn-lt"/>
              </a:rPr>
              <a:t>Loss</a:t>
            </a:r>
            <a:r>
              <a:rPr lang="tr-TR" dirty="0">
                <a:solidFill>
                  <a:srgbClr val="FFFFFF"/>
                </a:solidFill>
                <a:ea typeface="+mn-lt"/>
                <a:cs typeface="+mn-lt"/>
              </a:rPr>
              <a:t> </a:t>
            </a:r>
            <a:r>
              <a:rPr lang="tr-TR" dirty="0" err="1">
                <a:solidFill>
                  <a:srgbClr val="FFFFFF"/>
                </a:solidFill>
                <a:ea typeface="+mn-lt"/>
                <a:cs typeface="+mn-lt"/>
              </a:rPr>
              <a:t>Function</a:t>
            </a:r>
            <a:r>
              <a:rPr lang="tr-TR" dirty="0">
                <a:solidFill>
                  <a:srgbClr val="FFFFFF"/>
                </a:solidFill>
                <a:ea typeface="+mn-lt"/>
                <a:cs typeface="+mn-lt"/>
              </a:rPr>
              <a:t>) azınlık sınıfı koruyacak bir ağırlık (</a:t>
            </a:r>
            <a:r>
              <a:rPr lang="tr-TR" dirty="0" err="1">
                <a:solidFill>
                  <a:srgbClr val="FFFFFF"/>
                </a:solidFill>
                <a:ea typeface="+mn-lt"/>
                <a:cs typeface="+mn-lt"/>
              </a:rPr>
              <a:t>class_weight</a:t>
            </a:r>
            <a:r>
              <a:rPr lang="tr-TR" dirty="0">
                <a:solidFill>
                  <a:srgbClr val="FFFFFF"/>
                </a:solidFill>
                <a:ea typeface="+mn-lt"/>
                <a:cs typeface="+mn-lt"/>
              </a:rPr>
              <a:t>) eklenebilir. Veya veriyi modele vermeden önce SMOTE (Sentetik Azınlık Aşırı Örnekleme Tekniği) kullanılarak azınlıkta olan 150 sağlıklı kişinin verisi sentetik olarak çoğaltılıp veri seti 250'ye 250 olacak şekilde (%50 - %50) dengelenir. Böylece modelin ezberlemesi engellenip adil öğrenmesi sağlanır.</a:t>
            </a:r>
            <a:endParaRPr lang="tr-TR" dirty="0">
              <a:solidFill>
                <a:srgbClr val="FFFFFF"/>
              </a:solidFill>
            </a:endParaRPr>
          </a:p>
        </p:txBody>
      </p:sp>
      <p:pic>
        <p:nvPicPr>
          <p:cNvPr id="3078" name="Picture 6">
            <a:extLst>
              <a:ext uri="{FF2B5EF4-FFF2-40B4-BE49-F238E27FC236}">
                <a16:creationId xmlns:a16="http://schemas.microsoft.com/office/drawing/2014/main" id="{098D261E-482C-407C-BDE6-6B65102091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9658" y="1276885"/>
            <a:ext cx="5778277" cy="4304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522510"/>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7" name="Picture 2">
            <a:extLst>
              <a:ext uri="{FF2B5EF4-FFF2-40B4-BE49-F238E27FC236}">
                <a16:creationId xmlns:a16="http://schemas.microsoft.com/office/drawing/2014/main" id="{62850A1E-CB71-4CF0-B5B0-49CEB08430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9806" y="690113"/>
            <a:ext cx="9412121" cy="5710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2696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Başlık 1">
            <a:extLst>
              <a:ext uri="{FF2B5EF4-FFF2-40B4-BE49-F238E27FC236}">
                <a16:creationId xmlns:a16="http://schemas.microsoft.com/office/drawing/2014/main" id="{BB5FBFC9-6D24-8634-C070-8F9C613DF201}"/>
              </a:ext>
            </a:extLst>
          </p:cNvPr>
          <p:cNvSpPr>
            <a:spLocks noGrp="1"/>
          </p:cNvSpPr>
          <p:nvPr>
            <p:ph type="title"/>
          </p:nvPr>
        </p:nvSpPr>
        <p:spPr>
          <a:xfrm>
            <a:off x="638620" y="325485"/>
            <a:ext cx="10075027" cy="1269713"/>
          </a:xfrm>
        </p:spPr>
        <p:txBody>
          <a:bodyPr vert="horz" lIns="91440" tIns="45720" rIns="91440" bIns="45720" rtlCol="0">
            <a:normAutofit/>
          </a:bodyPr>
          <a:lstStyle/>
          <a:p>
            <a:pPr algn="ctr">
              <a:lnSpc>
                <a:spcPct val="90000"/>
              </a:lnSpc>
            </a:pPr>
            <a:r>
              <a:rPr lang="tr-TR" dirty="0">
                <a:solidFill>
                  <a:schemeClr val="tx2"/>
                </a:solidFill>
              </a:rPr>
              <a:t>Verinin Karakteri ve Eksik Veri Stratejisi </a:t>
            </a:r>
            <a:br>
              <a:rPr lang="tr-TR" dirty="0">
                <a:solidFill>
                  <a:schemeClr val="tx2"/>
                </a:solidFill>
              </a:rPr>
            </a:br>
            <a:r>
              <a:rPr lang="tr-TR" dirty="0">
                <a:solidFill>
                  <a:schemeClr val="tx2"/>
                </a:solidFill>
              </a:rPr>
              <a:t>(</a:t>
            </a:r>
            <a:r>
              <a:rPr lang="tr-TR" dirty="0" err="1">
                <a:solidFill>
                  <a:schemeClr val="tx2"/>
                </a:solidFill>
              </a:rPr>
              <a:t>Histogram</a:t>
            </a:r>
            <a:r>
              <a:rPr lang="tr-TR" dirty="0">
                <a:solidFill>
                  <a:schemeClr val="tx2"/>
                </a:solidFill>
              </a:rPr>
              <a:t> &amp; </a:t>
            </a:r>
            <a:r>
              <a:rPr lang="tr-TR" dirty="0" err="1">
                <a:solidFill>
                  <a:schemeClr val="tx2"/>
                </a:solidFill>
              </a:rPr>
              <a:t>Boxplot</a:t>
            </a:r>
            <a:r>
              <a:rPr lang="tr-TR" dirty="0">
                <a:solidFill>
                  <a:schemeClr val="tx2"/>
                </a:solidFill>
              </a:rPr>
              <a:t>)</a:t>
            </a:r>
          </a:p>
        </p:txBody>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İçerik Yer Tutucusu 2">
            <a:extLst>
              <a:ext uri="{FF2B5EF4-FFF2-40B4-BE49-F238E27FC236}">
                <a16:creationId xmlns:a16="http://schemas.microsoft.com/office/drawing/2014/main" id="{7F49002C-7D15-D101-C199-DFAB2F9AAF73}"/>
              </a:ext>
            </a:extLst>
          </p:cNvPr>
          <p:cNvSpPr>
            <a:spLocks noGrp="1"/>
          </p:cNvSpPr>
          <p:nvPr>
            <p:ph idx="1"/>
          </p:nvPr>
        </p:nvSpPr>
        <p:spPr>
          <a:xfrm>
            <a:off x="377686" y="1840356"/>
            <a:ext cx="11175694" cy="4560443"/>
          </a:xfrm>
        </p:spPr>
        <p:txBody>
          <a:bodyPr>
            <a:normAutofit lnSpcReduction="10000"/>
          </a:bodyPr>
          <a:lstStyle/>
          <a:p>
            <a:pPr marL="305435" indent="-305435"/>
            <a:r>
              <a:rPr lang="tr-TR" b="1" dirty="0"/>
              <a:t>Normal Olmayan Dağılım: </a:t>
            </a:r>
            <a:r>
              <a:rPr lang="tr-TR" dirty="0"/>
              <a:t>Böbrek fonksiyon testleri (Özellikle Serum </a:t>
            </a:r>
            <a:r>
              <a:rPr lang="tr-TR" dirty="0" err="1"/>
              <a:t>Kreatinin</a:t>
            </a:r>
            <a:r>
              <a:rPr lang="tr-TR" dirty="0"/>
              <a:t> - </a:t>
            </a:r>
            <a:r>
              <a:rPr lang="tr-TR" dirty="0" err="1"/>
              <a:t>sc</a:t>
            </a:r>
            <a:r>
              <a:rPr lang="tr-TR" dirty="0"/>
              <a:t> ve Kan Üresi - bu) klasik bir çan eğrisi (normal dağılım) göstermez. Aksine, sağa doğru ciddi şekilde çarpık (</a:t>
            </a:r>
            <a:r>
              <a:rPr lang="tr-TR" dirty="0" err="1"/>
              <a:t>right-skewed</a:t>
            </a:r>
            <a:r>
              <a:rPr lang="tr-TR" dirty="0"/>
              <a:t>) yapıdalar. Sağlıklı bireylerde bu değerler düşük ve çok dar bir aralıkta toplanırken, hastalık durumunda grafik sağa doğru uzun bir kuyruk oluşturur. </a:t>
            </a:r>
          </a:p>
          <a:p>
            <a:pPr marL="305435" indent="-305435"/>
            <a:endParaRPr lang="tr-TR" b="1" dirty="0"/>
          </a:p>
          <a:p>
            <a:pPr marL="305435" indent="-305435"/>
            <a:r>
              <a:rPr lang="tr-TR" b="1" dirty="0"/>
              <a:t>Aykırı Değerler (</a:t>
            </a:r>
            <a:r>
              <a:rPr lang="tr-TR" b="1" dirty="0" err="1"/>
              <a:t>Outliers</a:t>
            </a:r>
            <a:r>
              <a:rPr lang="tr-TR" b="1" dirty="0"/>
              <a:t>): </a:t>
            </a:r>
            <a:r>
              <a:rPr lang="tr-TR" dirty="0"/>
              <a:t>Serum </a:t>
            </a:r>
            <a:r>
              <a:rPr lang="tr-TR" dirty="0" err="1"/>
              <a:t>Kreatinin</a:t>
            </a:r>
            <a:r>
              <a:rPr lang="tr-TR" dirty="0"/>
              <a:t> ve Kan Üresi değerlerinde ortalamayı inanılmaz derecede yukarı çeken uç noktalar (</a:t>
            </a:r>
            <a:r>
              <a:rPr lang="tr-TR" dirty="0" err="1"/>
              <a:t>outliers</a:t>
            </a:r>
            <a:r>
              <a:rPr lang="tr-TR" dirty="0"/>
              <a:t>) gözlemledik. Örneğin, sağlıklı birinde 1.0 - 1.2 mg/</a:t>
            </a:r>
            <a:r>
              <a:rPr lang="tr-TR" dirty="0" err="1"/>
              <a:t>dL</a:t>
            </a:r>
            <a:r>
              <a:rPr lang="tr-TR" dirty="0"/>
              <a:t> civarında olması gereken </a:t>
            </a:r>
            <a:r>
              <a:rPr lang="tr-TR" dirty="0" err="1"/>
              <a:t>kreatinin</a:t>
            </a:r>
            <a:r>
              <a:rPr lang="tr-TR" dirty="0"/>
              <a:t> seviyesi, son dönem böbrek yetmezliği olan hastalarda 15, 20 hatta 30'un üzerine çıkarak veride devasa sıçramalar yaratır. </a:t>
            </a:r>
          </a:p>
          <a:p>
            <a:pPr marL="305435" indent="-305435"/>
            <a:endParaRPr lang="tr-TR" b="1" dirty="0"/>
          </a:p>
          <a:p>
            <a:pPr marL="305435" indent="-305435"/>
            <a:r>
              <a:rPr lang="tr-TR" b="1" dirty="0"/>
              <a:t>Stratejik Karar (Medyan Kullanımı): </a:t>
            </a:r>
            <a:r>
              <a:rPr lang="tr-TR" dirty="0"/>
              <a:t>CKD veri setinde tıbbi ölçümlerin alınamaması veya aktarım hataları nedeniyle ciddi miktarda eksik veri (</a:t>
            </a:r>
            <a:r>
              <a:rPr lang="tr-TR" dirty="0" err="1"/>
              <a:t>NaN</a:t>
            </a:r>
            <a:r>
              <a:rPr lang="tr-TR" dirty="0"/>
              <a:t>) bulunur. Aykırı değerlerin varlığından dolayı, eksik hücreleri genel ortalama (</a:t>
            </a:r>
            <a:r>
              <a:rPr lang="tr-TR" dirty="0" err="1"/>
              <a:t>mean</a:t>
            </a:r>
            <a:r>
              <a:rPr lang="tr-TR" dirty="0"/>
              <a:t>) ile doldurmak ölümcül bir hata olurdu (Çünkü uç değerlere sahip birkaç ağır hasta, sağlıklı hastaların doldurulacak verilerini bile suni olarak yukarı çeker). Ben eksik verileri, bu tür dışsal şoklara ve uç değerlere karşı çok daha dirençli olan Medyan (Ortanca) değeri ile doldurmayı tercih ettim.</a:t>
            </a:r>
          </a:p>
        </p:txBody>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Tree>
    <p:extLst>
      <p:ext uri="{BB962C8B-B14F-4D97-AF65-F5344CB8AC3E}">
        <p14:creationId xmlns:p14="http://schemas.microsoft.com/office/powerpoint/2010/main" val="4294847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6146" name="Picture 2">
            <a:extLst>
              <a:ext uri="{FF2B5EF4-FFF2-40B4-BE49-F238E27FC236}">
                <a16:creationId xmlns:a16="http://schemas.microsoft.com/office/drawing/2014/main" id="{D25C2F8B-C46F-4CE5-944C-D11E89C3D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9066" y="790209"/>
            <a:ext cx="10193867" cy="5446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683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363E2A-18DD-404F-8E0A-08EADD5B30E5}"/>
              </a:ext>
            </a:extLst>
          </p:cNvPr>
          <p:cNvSpPr>
            <a:spLocks noGrp="1"/>
          </p:cNvSpPr>
          <p:nvPr>
            <p:ph type="title"/>
          </p:nvPr>
        </p:nvSpPr>
        <p:spPr/>
        <p:txBody>
          <a:bodyPr/>
          <a:lstStyle/>
          <a:p>
            <a:pPr algn="ctr"/>
            <a:r>
              <a:rPr lang="tr-TR" dirty="0"/>
              <a:t>Özellikler Arası İlişkiler (Korelasyon Isı Haritası)</a:t>
            </a:r>
          </a:p>
        </p:txBody>
      </p:sp>
      <p:sp>
        <p:nvSpPr>
          <p:cNvPr id="9" name="Metin kutusu 8">
            <a:extLst>
              <a:ext uri="{FF2B5EF4-FFF2-40B4-BE49-F238E27FC236}">
                <a16:creationId xmlns:a16="http://schemas.microsoft.com/office/drawing/2014/main" id="{8E0F5816-752F-41A4-AC0B-7B146E499F1F}"/>
              </a:ext>
            </a:extLst>
          </p:cNvPr>
          <p:cNvSpPr txBox="1"/>
          <p:nvPr/>
        </p:nvSpPr>
        <p:spPr>
          <a:xfrm>
            <a:off x="289295" y="2102852"/>
            <a:ext cx="5985077" cy="4247317"/>
          </a:xfrm>
          <a:prstGeom prst="rect">
            <a:avLst/>
          </a:prstGeom>
          <a:noFill/>
        </p:spPr>
        <p:txBody>
          <a:bodyPr wrap="square">
            <a:spAutoFit/>
          </a:bodyPr>
          <a:lstStyle/>
          <a:p>
            <a:r>
              <a:rPr lang="tr-TR" sz="1500" b="1" dirty="0"/>
              <a:t>Ön Keşif (Korelasyon): </a:t>
            </a:r>
            <a:r>
              <a:rPr lang="tr-TR" sz="1500" dirty="0"/>
              <a:t>İki değişken arasındaki ilişkiyi anlamak için oluşturduğum bu ısı haritasını (korelasyon matrisini) inceledim. Amacım, hangi klinik bulgunun hedef değişkenimiz olan sınıflandırma (</a:t>
            </a:r>
            <a:r>
              <a:rPr lang="tr-TR" sz="1500" dirty="0" err="1"/>
              <a:t>siniflandirma</a:t>
            </a:r>
            <a:r>
              <a:rPr lang="tr-TR" sz="1500" dirty="0"/>
              <a:t>) ile matematiksel olarak en güçlü bağa sahip olduğunu tespit etmekti. </a:t>
            </a:r>
          </a:p>
          <a:p>
            <a:endParaRPr lang="tr-TR" sz="1500" dirty="0"/>
          </a:p>
          <a:p>
            <a:r>
              <a:rPr lang="tr-TR" sz="1500" b="1" dirty="0"/>
              <a:t>En Güçlü Sinyaller: </a:t>
            </a:r>
            <a:r>
              <a:rPr lang="tr-TR" sz="1500" dirty="0"/>
              <a:t>Haritaya baktığımda, sınıflandırma değişkeniyle en güçlü pozitif ilişkinin hemoglobin (+0.73) ve özgül ağırlık (+0.70) değerlerinde olduğunu net bir şekilde görebiliyorum. Ayrıca paketli hücre hacmi (</a:t>
            </a:r>
            <a:r>
              <a:rPr lang="tr-TR" sz="1500" dirty="0" err="1"/>
              <a:t>paketli_hucre_hacmi</a:t>
            </a:r>
            <a:r>
              <a:rPr lang="tr-TR" sz="1500" dirty="0"/>
              <a:t>) değeri de (+0.65) oldukça güçlü bir pozitif sinyal veriyor. Yani bu değerler yükseldikçe, hastanın ilgili sınıfa ait olma olasılığı da matematiksel olarak artıyor. </a:t>
            </a:r>
          </a:p>
          <a:p>
            <a:endParaRPr lang="tr-TR" sz="1500" dirty="0"/>
          </a:p>
          <a:p>
            <a:r>
              <a:rPr lang="tr-TR" sz="1500" b="1" dirty="0"/>
              <a:t>Ters Orantı: </a:t>
            </a:r>
            <a:r>
              <a:rPr lang="tr-TR" sz="1500" dirty="0"/>
              <a:t>Öte yandan, sınıflandırma ile en güçlü negatif ilişkinin idrardaki albümin (-0.60) ve hipertansiyon (-0.58) arasında olduğunu tespit ettim. Benzer şekilde diyabet (-0.40) ve kan üresi (-0.37) gibi değerler de negatif bir korelasyon sergiliyor. Bu durum bize, hastanın albümin kaçağı veya tansiyonu arttıkça, denklemde ters yönlü bir hareketin tetiklendiğini gösteriyor.</a:t>
            </a:r>
          </a:p>
        </p:txBody>
      </p:sp>
      <p:pic>
        <p:nvPicPr>
          <p:cNvPr id="8194" name="Picture 2">
            <a:extLst>
              <a:ext uri="{FF2B5EF4-FFF2-40B4-BE49-F238E27FC236}">
                <a16:creationId xmlns:a16="http://schemas.microsoft.com/office/drawing/2014/main" id="{3DBCE4C5-16A5-4F12-BB4A-A4042BD3D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4899" y="2102852"/>
            <a:ext cx="5647806" cy="4431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8951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9218" name="Picture 2">
            <a:extLst>
              <a:ext uri="{FF2B5EF4-FFF2-40B4-BE49-F238E27FC236}">
                <a16:creationId xmlns:a16="http://schemas.microsoft.com/office/drawing/2014/main" id="{505272B7-6673-4D24-9C9E-B82074C7FE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3791" y="1007534"/>
            <a:ext cx="5567920" cy="5613400"/>
          </a:xfrm>
          <a:prstGeom prst="rect">
            <a:avLst/>
          </a:prstGeom>
          <a:noFill/>
          <a:extLst>
            <a:ext uri="{909E8E84-426E-40DD-AFC4-6F175D3DCCD1}">
              <a14:hiddenFill xmlns:a14="http://schemas.microsoft.com/office/drawing/2010/main">
                <a:solidFill>
                  <a:srgbClr val="FFFFFF"/>
                </a:solidFill>
              </a14:hiddenFill>
            </a:ext>
          </a:extLst>
        </p:spPr>
      </p:pic>
      <p:sp>
        <p:nvSpPr>
          <p:cNvPr id="8" name="Metin kutusu 7">
            <a:extLst>
              <a:ext uri="{FF2B5EF4-FFF2-40B4-BE49-F238E27FC236}">
                <a16:creationId xmlns:a16="http://schemas.microsoft.com/office/drawing/2014/main" id="{84EF37B6-AFAF-4294-BF66-E81BE0095CAF}"/>
              </a:ext>
            </a:extLst>
          </p:cNvPr>
          <p:cNvSpPr txBox="1"/>
          <p:nvPr/>
        </p:nvSpPr>
        <p:spPr>
          <a:xfrm>
            <a:off x="2394236" y="492758"/>
            <a:ext cx="6096000" cy="553998"/>
          </a:xfrm>
          <a:prstGeom prst="rect">
            <a:avLst/>
          </a:prstGeom>
          <a:noFill/>
        </p:spPr>
        <p:txBody>
          <a:bodyPr wrap="square">
            <a:spAutoFit/>
          </a:bodyPr>
          <a:lstStyle/>
          <a:p>
            <a:pPr algn="ctr"/>
            <a:r>
              <a:rPr lang="tr-TR" sz="3000" dirty="0"/>
              <a:t>Hedef Odaklı Korelasyon Analizi</a:t>
            </a:r>
          </a:p>
        </p:txBody>
      </p:sp>
      <p:sp>
        <p:nvSpPr>
          <p:cNvPr id="11" name="Metin kutusu 10">
            <a:extLst>
              <a:ext uri="{FF2B5EF4-FFF2-40B4-BE49-F238E27FC236}">
                <a16:creationId xmlns:a16="http://schemas.microsoft.com/office/drawing/2014/main" id="{2991B62B-9A27-481C-9E32-9FE039D880A5}"/>
              </a:ext>
            </a:extLst>
          </p:cNvPr>
          <p:cNvSpPr txBox="1"/>
          <p:nvPr/>
        </p:nvSpPr>
        <p:spPr>
          <a:xfrm>
            <a:off x="285663" y="1082314"/>
            <a:ext cx="5133224" cy="5663089"/>
          </a:xfrm>
          <a:prstGeom prst="rect">
            <a:avLst/>
          </a:prstGeom>
          <a:noFill/>
        </p:spPr>
        <p:txBody>
          <a:bodyPr wrap="square">
            <a:spAutoFit/>
          </a:bodyPr>
          <a:lstStyle/>
          <a:p>
            <a:r>
              <a:rPr lang="tr-TR" sz="2000" b="1" dirty="0"/>
              <a:t>Modelin Karar Pusulası: En Güçlü Pozitif ve Negatif Sinyaller</a:t>
            </a:r>
          </a:p>
          <a:p>
            <a:endParaRPr lang="tr-TR" dirty="0"/>
          </a:p>
          <a:p>
            <a:r>
              <a:rPr lang="tr-TR" sz="1600" dirty="0"/>
              <a:t>Karmaşık korelasyon matrisini daha odaklı ve anlaşılır kılmak adına, tüm özelliklerin doğrudan hedef değişkenimiz olan "sınıflandırma" ile ilişkisini bu çubuk grafikte özetledim.</a:t>
            </a:r>
          </a:p>
          <a:p>
            <a:endParaRPr lang="tr-TR" sz="1600" dirty="0"/>
          </a:p>
          <a:p>
            <a:r>
              <a:rPr lang="tr-TR" sz="1600" dirty="0"/>
              <a:t>Grafiğin en üst kısmındaki koyu mor çubuklara baktığımda; </a:t>
            </a:r>
            <a:r>
              <a:rPr lang="tr-TR" sz="1600" b="1" dirty="0"/>
              <a:t>hemoglobin, özgül ağırlık ve paketli hücre hacmi</a:t>
            </a:r>
            <a:r>
              <a:rPr lang="tr-TR" sz="1600" dirty="0"/>
              <a:t> değerlerinin hedef değişkenle en güçlü pozitif bağı kurduğunu açıkça görebiliyorum. Bu üçlü, kuracağım modelin karar mekanizmasındaki en güçlü yönlendiriciler olacak.</a:t>
            </a:r>
          </a:p>
          <a:p>
            <a:endParaRPr lang="tr-TR" sz="1600" dirty="0"/>
          </a:p>
          <a:p>
            <a:r>
              <a:rPr lang="tr-TR" sz="1600" dirty="0"/>
              <a:t>Grafiğin en altına indiğimde ise, sarı-yeşil tonlarıyla dikkat çeken </a:t>
            </a:r>
            <a:r>
              <a:rPr lang="tr-TR" sz="1600" b="1" dirty="0"/>
              <a:t>albümin ve hipertansiyonun</a:t>
            </a:r>
            <a:r>
              <a:rPr lang="tr-TR" sz="1600" dirty="0"/>
              <a:t> denklemi en güçlü şekilde ters yönde (negatif) etkileyen baş aktörler olduğunu tespit ettim.</a:t>
            </a:r>
          </a:p>
          <a:p>
            <a:r>
              <a:rPr lang="tr-TR" sz="1600" dirty="0"/>
              <a:t>Elde ettiğim bu net sıralama ve hiyerarşi, yapay zeka modelimin karmaşık sağlık verileri içinde kaybolmadan hangi göstergelere öncelik tanıması gerektiği konusunda bana mükemmel bir kılavuz sağlıyor.</a:t>
            </a:r>
          </a:p>
        </p:txBody>
      </p:sp>
    </p:spTree>
    <p:extLst>
      <p:ext uri="{BB962C8B-B14F-4D97-AF65-F5344CB8AC3E}">
        <p14:creationId xmlns:p14="http://schemas.microsoft.com/office/powerpoint/2010/main" val="3991721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363E2A-18DD-404F-8E0A-08EADD5B30E5}"/>
              </a:ext>
            </a:extLst>
          </p:cNvPr>
          <p:cNvSpPr>
            <a:spLocks noGrp="1"/>
          </p:cNvSpPr>
          <p:nvPr>
            <p:ph type="title"/>
          </p:nvPr>
        </p:nvSpPr>
        <p:spPr/>
        <p:txBody>
          <a:bodyPr/>
          <a:lstStyle/>
          <a:p>
            <a:pPr algn="ctr"/>
            <a:r>
              <a:rPr lang="tr-TR" dirty="0"/>
              <a:t>Veri Bölümleme ve Adil Öğrenme Stratejim</a:t>
            </a:r>
          </a:p>
        </p:txBody>
      </p:sp>
      <p:sp>
        <p:nvSpPr>
          <p:cNvPr id="9" name="Metin kutusu 8">
            <a:extLst>
              <a:ext uri="{FF2B5EF4-FFF2-40B4-BE49-F238E27FC236}">
                <a16:creationId xmlns:a16="http://schemas.microsoft.com/office/drawing/2014/main" id="{8E0F5816-752F-41A4-AC0B-7B146E499F1F}"/>
              </a:ext>
            </a:extLst>
          </p:cNvPr>
          <p:cNvSpPr txBox="1"/>
          <p:nvPr/>
        </p:nvSpPr>
        <p:spPr>
          <a:xfrm>
            <a:off x="289295" y="2102852"/>
            <a:ext cx="5985077" cy="323165"/>
          </a:xfrm>
          <a:prstGeom prst="rect">
            <a:avLst/>
          </a:prstGeom>
          <a:noFill/>
        </p:spPr>
        <p:txBody>
          <a:bodyPr wrap="square">
            <a:spAutoFit/>
          </a:bodyPr>
          <a:lstStyle/>
          <a:p>
            <a:endParaRPr lang="tr-TR" sz="1500" dirty="0"/>
          </a:p>
        </p:txBody>
      </p:sp>
      <p:sp>
        <p:nvSpPr>
          <p:cNvPr id="8" name="Metin kutusu 7">
            <a:extLst>
              <a:ext uri="{FF2B5EF4-FFF2-40B4-BE49-F238E27FC236}">
                <a16:creationId xmlns:a16="http://schemas.microsoft.com/office/drawing/2014/main" id="{43E20D41-8126-435D-AB60-0372B7668D7C}"/>
              </a:ext>
            </a:extLst>
          </p:cNvPr>
          <p:cNvSpPr txBox="1"/>
          <p:nvPr/>
        </p:nvSpPr>
        <p:spPr>
          <a:xfrm>
            <a:off x="289295" y="1810464"/>
            <a:ext cx="8075772" cy="5047536"/>
          </a:xfrm>
          <a:prstGeom prst="rect">
            <a:avLst/>
          </a:prstGeom>
          <a:noFill/>
        </p:spPr>
        <p:txBody>
          <a:bodyPr wrap="square">
            <a:spAutoFit/>
          </a:bodyPr>
          <a:lstStyle/>
          <a:p>
            <a:r>
              <a:rPr lang="tr-TR" sz="1400" dirty="0"/>
              <a:t>Modelimi eğitmeden önce elimdeki 400 satırlık ham veriyi, tıpkı bir sınav hazırlığı gibi üç temel parçaya ayırdım:</a:t>
            </a:r>
          </a:p>
          <a:p>
            <a:endParaRPr lang="tr-TR" sz="1400" dirty="0"/>
          </a:p>
          <a:p>
            <a:pPr>
              <a:buFont typeface="Arial" panose="020B0604020202020204" pitchFamily="34" charset="0"/>
              <a:buChar char="•"/>
            </a:pPr>
            <a:r>
              <a:rPr lang="tr-TR" sz="1400" b="1" dirty="0"/>
              <a:t>Eğitim Seti (280 Satır):</a:t>
            </a:r>
            <a:r>
              <a:rPr lang="tr-TR" sz="1400" dirty="0"/>
              <a:t> Modelimin konuyu öğrendiği "ders çalışma" aşamasıdır. 24 farklı klinik özelliği kullanarak böbrek yetmezliği belirtilerini burada keşfettim.</a:t>
            </a:r>
          </a:p>
          <a:p>
            <a:pPr>
              <a:buFont typeface="Arial" panose="020B0604020202020204" pitchFamily="34" charset="0"/>
              <a:buChar char="•"/>
            </a:pPr>
            <a:r>
              <a:rPr lang="tr-TR" sz="1400" b="1" dirty="0"/>
              <a:t>Doğrulama Seti (60 Satır):</a:t>
            </a:r>
            <a:r>
              <a:rPr lang="tr-TR" sz="1400" dirty="0"/>
              <a:t> Modelin öğrenme sürecinde yaptığı hataları denetlediğim ve </a:t>
            </a:r>
            <a:r>
              <a:rPr lang="tr-TR" sz="1400" dirty="0" err="1"/>
              <a:t>hiperparametreleri</a:t>
            </a:r>
            <a:r>
              <a:rPr lang="tr-TR" sz="1400" dirty="0"/>
              <a:t> (mimari, aktivasyon vb.) optimize ettiğim "ara sınav" bölümüdür.</a:t>
            </a:r>
          </a:p>
          <a:p>
            <a:pPr>
              <a:buFont typeface="Arial" panose="020B0604020202020204" pitchFamily="34" charset="0"/>
              <a:buChar char="•"/>
            </a:pPr>
            <a:r>
              <a:rPr lang="tr-TR" sz="1400" b="1" dirty="0"/>
              <a:t>Test Seti (60 Satır):</a:t>
            </a:r>
            <a:r>
              <a:rPr lang="tr-TR" sz="1400" dirty="0"/>
              <a:t> Modelin daha önce hiç görmediği verilerle karşılaştığı, başarısını kanıtladığı "final sınavı" aşamasıdır.</a:t>
            </a:r>
          </a:p>
          <a:p>
            <a:pPr>
              <a:buFont typeface="Arial" panose="020B0604020202020204" pitchFamily="34" charset="0"/>
              <a:buChar char="•"/>
            </a:pPr>
            <a:endParaRPr lang="tr-TR" sz="1400" dirty="0"/>
          </a:p>
          <a:p>
            <a:r>
              <a:rPr lang="tr-TR" sz="1400" b="1" dirty="0"/>
              <a:t>Ceza Katsayıları: Neden Bu Kadar Farklı?</a:t>
            </a:r>
          </a:p>
          <a:p>
            <a:endParaRPr lang="tr-TR" sz="1400" dirty="0"/>
          </a:p>
          <a:p>
            <a:r>
              <a:rPr lang="tr-TR" sz="1400" dirty="0"/>
              <a:t>Veri setindeki en kritik dokunuşu "Ceza Katsayıları" (Class </a:t>
            </a:r>
            <a:r>
              <a:rPr lang="tr-TR" sz="1400" dirty="0" err="1"/>
              <a:t>Weights</a:t>
            </a:r>
            <a:r>
              <a:rPr lang="tr-TR" sz="1400" dirty="0"/>
              <a:t>) kısmında yaptım. Görselde gördüğün </a:t>
            </a:r>
            <a:r>
              <a:rPr lang="tr-TR" sz="1400" b="1" dirty="0"/>
              <a:t>46.6667</a:t>
            </a:r>
            <a:r>
              <a:rPr lang="tr-TR" sz="1400" dirty="0"/>
              <a:t> ve </a:t>
            </a:r>
            <a:r>
              <a:rPr lang="tr-TR" sz="1400" b="1" dirty="0"/>
              <a:t>0.5426</a:t>
            </a:r>
            <a:r>
              <a:rPr lang="tr-TR" sz="1400" dirty="0"/>
              <a:t> değerleri, modelimin adalet duygusunu temsil ediyor:</a:t>
            </a:r>
          </a:p>
          <a:p>
            <a:pPr>
              <a:buFont typeface="Arial" panose="020B0604020202020204" pitchFamily="34" charset="0"/>
              <a:buChar char="•"/>
            </a:pPr>
            <a:r>
              <a:rPr lang="tr-TR" sz="1400" b="1" dirty="0"/>
              <a:t>CKD Hastası (Sınıf 1) Çarpanı (46.66):</a:t>
            </a:r>
            <a:r>
              <a:rPr lang="tr-TR" sz="1400" dirty="0"/>
              <a:t> Veri setinde hasta sayısı, sağlıklı bireylere oranla çok daha az olduğu için modelin hastaları "görmezden gelme" lüksü vardı. Ben bu katsayı ile modele şu mesajı verdim: </a:t>
            </a:r>
            <a:r>
              <a:rPr lang="tr-TR" sz="1400" i="1" dirty="0"/>
              <a:t>"Bir hastayı sağlıklı sanmanın cezası, sağlıklı birini hasta sanmaktan yaklaşık 46 kat daha büyüktür!"</a:t>
            </a:r>
            <a:endParaRPr lang="tr-TR" sz="1400" dirty="0"/>
          </a:p>
          <a:p>
            <a:pPr>
              <a:buFont typeface="Arial" panose="020B0604020202020204" pitchFamily="34" charset="0"/>
              <a:buChar char="•"/>
            </a:pPr>
            <a:endParaRPr lang="tr-TR" sz="1400" b="1" dirty="0"/>
          </a:p>
          <a:p>
            <a:pPr>
              <a:buFont typeface="Arial" panose="020B0604020202020204" pitchFamily="34" charset="0"/>
              <a:buChar char="•"/>
            </a:pPr>
            <a:r>
              <a:rPr lang="tr-TR" sz="1400" b="1" dirty="0"/>
              <a:t>Sağlıklı (Sınıf 0) Çarpanı (0.54):</a:t>
            </a:r>
            <a:r>
              <a:rPr lang="tr-TR" sz="1400" dirty="0"/>
              <a:t> Sayıca fazla olan sağlıklı bireylerin model üzerindeki baskısını azalttım ki model sadece çoğunluğa bakarak ezber yapmasın.</a:t>
            </a:r>
          </a:p>
          <a:p>
            <a:r>
              <a:rPr lang="tr-TR" sz="1400" dirty="0"/>
              <a:t>Bu dengeleme stratejisi sayesinde, modelimin sadece yüksek doğruluk (</a:t>
            </a:r>
            <a:r>
              <a:rPr lang="tr-TR" sz="1400" dirty="0" err="1"/>
              <a:t>Accuracy</a:t>
            </a:r>
            <a:r>
              <a:rPr lang="tr-TR" sz="1400" dirty="0"/>
              <a:t>) oranına sahip olmasını değil, aynı zamanda hayati öneme sahip olan </a:t>
            </a:r>
            <a:r>
              <a:rPr lang="tr-TR" sz="1400" b="1" dirty="0"/>
              <a:t>hastaları yakalama kabiliyetinin (</a:t>
            </a:r>
            <a:r>
              <a:rPr lang="tr-TR" sz="1400" b="1" dirty="0" err="1"/>
              <a:t>Recall</a:t>
            </a:r>
            <a:r>
              <a:rPr lang="tr-TR" sz="1400" b="1" dirty="0"/>
              <a:t>)</a:t>
            </a:r>
            <a:r>
              <a:rPr lang="tr-TR" sz="1400" dirty="0"/>
              <a:t> en üst seviyeye çıkmasını sağladım.</a:t>
            </a:r>
          </a:p>
        </p:txBody>
      </p:sp>
      <p:pic>
        <p:nvPicPr>
          <p:cNvPr id="7" name="Resim 6">
            <a:extLst>
              <a:ext uri="{FF2B5EF4-FFF2-40B4-BE49-F238E27FC236}">
                <a16:creationId xmlns:a16="http://schemas.microsoft.com/office/drawing/2014/main" id="{7B8BAF66-014F-45EC-ABDB-6578153F0A0D}"/>
              </a:ext>
            </a:extLst>
          </p:cNvPr>
          <p:cNvPicPr>
            <a:picLocks noChangeAspect="1"/>
          </p:cNvPicPr>
          <p:nvPr/>
        </p:nvPicPr>
        <p:blipFill>
          <a:blip r:embed="rId2"/>
          <a:stretch>
            <a:fillRect/>
          </a:stretch>
        </p:blipFill>
        <p:spPr>
          <a:xfrm>
            <a:off x="8457143" y="2102852"/>
            <a:ext cx="2972837" cy="1819199"/>
          </a:xfrm>
          <a:prstGeom prst="rect">
            <a:avLst/>
          </a:prstGeom>
        </p:spPr>
      </p:pic>
    </p:spTree>
    <p:extLst>
      <p:ext uri="{BB962C8B-B14F-4D97-AF65-F5344CB8AC3E}">
        <p14:creationId xmlns:p14="http://schemas.microsoft.com/office/powerpoint/2010/main" val="1842594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8" name="Metin kutusu 7">
            <a:extLst>
              <a:ext uri="{FF2B5EF4-FFF2-40B4-BE49-F238E27FC236}">
                <a16:creationId xmlns:a16="http://schemas.microsoft.com/office/drawing/2014/main" id="{84EF37B6-AFAF-4294-BF66-E81BE0095CAF}"/>
              </a:ext>
            </a:extLst>
          </p:cNvPr>
          <p:cNvSpPr txBox="1"/>
          <p:nvPr/>
        </p:nvSpPr>
        <p:spPr>
          <a:xfrm>
            <a:off x="3352800" y="59042"/>
            <a:ext cx="6096000" cy="553998"/>
          </a:xfrm>
          <a:prstGeom prst="rect">
            <a:avLst/>
          </a:prstGeom>
          <a:noFill/>
        </p:spPr>
        <p:txBody>
          <a:bodyPr wrap="square">
            <a:spAutoFit/>
          </a:bodyPr>
          <a:lstStyle/>
          <a:p>
            <a:pPr algn="ctr"/>
            <a:r>
              <a:rPr lang="tr-TR" sz="3000" dirty="0"/>
              <a:t>Optimum Model Keşfi </a:t>
            </a:r>
          </a:p>
        </p:txBody>
      </p:sp>
      <p:sp>
        <p:nvSpPr>
          <p:cNvPr id="11" name="Metin kutusu 10">
            <a:extLst>
              <a:ext uri="{FF2B5EF4-FFF2-40B4-BE49-F238E27FC236}">
                <a16:creationId xmlns:a16="http://schemas.microsoft.com/office/drawing/2014/main" id="{2991B62B-9A27-481C-9E32-9FE039D880A5}"/>
              </a:ext>
            </a:extLst>
          </p:cNvPr>
          <p:cNvSpPr txBox="1"/>
          <p:nvPr/>
        </p:nvSpPr>
        <p:spPr>
          <a:xfrm>
            <a:off x="36030" y="517803"/>
            <a:ext cx="6845582" cy="6340197"/>
          </a:xfrm>
          <a:prstGeom prst="rect">
            <a:avLst/>
          </a:prstGeom>
          <a:noFill/>
        </p:spPr>
        <p:txBody>
          <a:bodyPr wrap="square">
            <a:spAutoFit/>
          </a:bodyPr>
          <a:lstStyle/>
          <a:p>
            <a:r>
              <a:rPr lang="tr-TR" sz="1400" dirty="0"/>
              <a:t>Modelimin en yüksek performansı göstermesi için varsayımlarla ilerlemek yerine, dört farklı aşamadan oluşan sistematik bir test süreci tasarladım. Görseldeki bu detaylı analiz tablosunu inceleyerek, ağımın kaderini belirleyecek ve ezberlemeyi (</a:t>
            </a:r>
            <a:r>
              <a:rPr lang="tr-TR" sz="1400" dirty="0" err="1"/>
              <a:t>overfitting</a:t>
            </a:r>
            <a:r>
              <a:rPr lang="tr-TR" sz="1400" dirty="0"/>
              <a:t>) önleyecek </a:t>
            </a:r>
            <a:r>
              <a:rPr lang="tr-TR" sz="1400" b="1" dirty="0"/>
              <a:t>optimum 4 bileşeni</a:t>
            </a:r>
            <a:r>
              <a:rPr lang="tr-TR" sz="1400" dirty="0"/>
              <a:t> adım adım tespit ettim:</a:t>
            </a:r>
          </a:p>
          <a:p>
            <a:endParaRPr lang="tr-TR" sz="1400" dirty="0"/>
          </a:p>
          <a:p>
            <a:r>
              <a:rPr lang="tr-TR" sz="1400" b="1" dirty="0"/>
              <a:t>1. İdeal Eğitim Süresi (15 </a:t>
            </a:r>
            <a:r>
              <a:rPr lang="tr-TR" sz="1400" b="1" dirty="0" err="1"/>
              <a:t>Epoch</a:t>
            </a:r>
            <a:r>
              <a:rPr lang="tr-TR" sz="1400" b="1" dirty="0"/>
              <a:t>):</a:t>
            </a:r>
            <a:r>
              <a:rPr lang="tr-TR" sz="1400" dirty="0"/>
              <a:t> Testlere 100 </a:t>
            </a:r>
            <a:r>
              <a:rPr lang="tr-TR" sz="1400" dirty="0" err="1"/>
              <a:t>epoch</a:t>
            </a:r>
            <a:r>
              <a:rPr lang="tr-TR" sz="1400" dirty="0"/>
              <a:t> gibi yüksek bir değerden başladım ve yavaş yavaş aşağı indim. 100 </a:t>
            </a:r>
            <a:r>
              <a:rPr lang="tr-TR" sz="1400" dirty="0" err="1"/>
              <a:t>epoch'ta</a:t>
            </a:r>
            <a:r>
              <a:rPr lang="tr-TR" sz="1400" dirty="0"/>
              <a:t> model çok iyi görünse de, gereksiz işlem gücü harcadığını ve ezberlemeye meyilli olduğunu biliyordum. Tabloya baktığımda, modelin hem test (%98.3) hem de doğrulama (%92.8) performansından ödün vermeden inebildiği "tatlı noktanın" (</a:t>
            </a:r>
            <a:r>
              <a:rPr lang="tr-TR" sz="1400" dirty="0" err="1"/>
              <a:t>sweet</a:t>
            </a:r>
            <a:r>
              <a:rPr lang="tr-TR" sz="1400" dirty="0"/>
              <a:t> spot) </a:t>
            </a:r>
            <a:r>
              <a:rPr lang="tr-TR" sz="1400" b="1" dirty="0"/>
              <a:t>15 </a:t>
            </a:r>
            <a:r>
              <a:rPr lang="tr-TR" sz="1400" b="1" dirty="0" err="1"/>
              <a:t>Epoch</a:t>
            </a:r>
            <a:r>
              <a:rPr lang="tr-TR" sz="1400" dirty="0"/>
              <a:t> olduğunu belirledim.</a:t>
            </a:r>
          </a:p>
          <a:p>
            <a:endParaRPr lang="tr-TR" sz="1400" dirty="0"/>
          </a:p>
          <a:p>
            <a:r>
              <a:rPr lang="tr-TR" sz="1400" b="1" dirty="0"/>
              <a:t>2. En İyi Aktivasyon (</a:t>
            </a:r>
            <a:r>
              <a:rPr lang="tr-TR" sz="1400" b="1" dirty="0" err="1"/>
              <a:t>ReLU</a:t>
            </a:r>
            <a:r>
              <a:rPr lang="tr-TR" sz="1400" b="1" dirty="0"/>
              <a:t>):</a:t>
            </a:r>
            <a:r>
              <a:rPr lang="tr-TR" sz="1400" dirty="0"/>
              <a:t> 9., 10. ve 11. satırlardaki testlerimde ağın öğrenme karakterini değiştirdim. </a:t>
            </a:r>
            <a:r>
              <a:rPr lang="tr-TR" sz="1400" dirty="0" err="1"/>
              <a:t>Logistic</a:t>
            </a:r>
            <a:r>
              <a:rPr lang="tr-TR" sz="1400" dirty="0"/>
              <a:t> (%66) ve </a:t>
            </a:r>
            <a:r>
              <a:rPr lang="tr-TR" sz="1400" dirty="0" err="1"/>
              <a:t>Tanh</a:t>
            </a:r>
            <a:r>
              <a:rPr lang="tr-TR" sz="1400" dirty="0"/>
              <a:t> (%86) gibi fonksiyonların bu veri setinde yetersiz kaldığını; doğrusal olmayan karmaşık ilişkileri en iyi </a:t>
            </a:r>
            <a:r>
              <a:rPr lang="tr-TR" sz="1400" b="1" dirty="0" err="1"/>
              <a:t>ReLU</a:t>
            </a:r>
            <a:r>
              <a:rPr lang="tr-TR" sz="1400" dirty="0" err="1"/>
              <a:t>'nun</a:t>
            </a:r>
            <a:r>
              <a:rPr lang="tr-TR" sz="1400" dirty="0"/>
              <a:t> çözdüğünü matematiksel olarak doğruladım.</a:t>
            </a:r>
          </a:p>
          <a:p>
            <a:endParaRPr lang="tr-TR" sz="1400" dirty="0"/>
          </a:p>
          <a:p>
            <a:r>
              <a:rPr lang="tr-TR" sz="1400" b="1" dirty="0"/>
              <a:t>3. En Güçlü </a:t>
            </a:r>
            <a:r>
              <a:rPr lang="tr-TR" sz="1400" b="1" dirty="0" err="1"/>
              <a:t>Optimizer</a:t>
            </a:r>
            <a:r>
              <a:rPr lang="tr-TR" sz="1400" b="1" dirty="0"/>
              <a:t> (Adam):</a:t>
            </a:r>
            <a:r>
              <a:rPr lang="tr-TR" sz="1400" dirty="0"/>
              <a:t> 12. ve 13. satırlarda optimizasyon motorlarını yarıştırdım. Standart SGD algoritması test setinde %60'larda çakılı kalırken, </a:t>
            </a:r>
            <a:r>
              <a:rPr lang="tr-TR" sz="1400" b="1" dirty="0"/>
              <a:t>Adam</a:t>
            </a:r>
            <a:r>
              <a:rPr lang="tr-TR" sz="1400" dirty="0"/>
              <a:t> algoritmasının </a:t>
            </a:r>
            <a:r>
              <a:rPr lang="tr-TR" sz="1400" dirty="0" err="1"/>
              <a:t>adaptif</a:t>
            </a:r>
            <a:r>
              <a:rPr lang="tr-TR" sz="1400" dirty="0"/>
              <a:t> hız yapısıyla ağın hedefe çok daha isabetli ulaştığını kanıtladım.</a:t>
            </a:r>
          </a:p>
          <a:p>
            <a:endParaRPr lang="tr-TR" sz="1400" dirty="0"/>
          </a:p>
          <a:p>
            <a:r>
              <a:rPr lang="tr-TR" sz="1400" b="1" dirty="0"/>
              <a:t>4. En Dengeli Mimari (64, 32):</a:t>
            </a:r>
            <a:r>
              <a:rPr lang="tr-TR" sz="1400" dirty="0"/>
              <a:t> Son aşamada ağın iskeletini test ettim. Tek katmanlı (64,) yapı yetersiz kalırken (%85); daha derin olan (128, 64, 32) mimarisi (16. satır) doğrulama setinde %100'e ulaşarak tehlikeli bir "ezberleme" (</a:t>
            </a:r>
            <a:r>
              <a:rPr lang="tr-TR" sz="1400" dirty="0" err="1"/>
              <a:t>overfitting</a:t>
            </a:r>
            <a:r>
              <a:rPr lang="tr-TR" sz="1400" dirty="0"/>
              <a:t>) sinyali verdi. En sağlıklı ve dengeli darboğazın (</a:t>
            </a:r>
            <a:r>
              <a:rPr lang="tr-TR" sz="1400" dirty="0" err="1"/>
              <a:t>bottleneck</a:t>
            </a:r>
            <a:r>
              <a:rPr lang="tr-TR" sz="1400" dirty="0"/>
              <a:t>) siyah çerçeveyle işaretlediğim </a:t>
            </a:r>
            <a:r>
              <a:rPr lang="tr-TR" sz="1400" b="1" dirty="0"/>
              <a:t>(64, 32)</a:t>
            </a:r>
            <a:r>
              <a:rPr lang="tr-TR" sz="1400" dirty="0"/>
              <a:t> yapısı olduğuna karar verdim.</a:t>
            </a:r>
          </a:p>
          <a:p>
            <a:endParaRPr lang="tr-TR" sz="1400" b="1" dirty="0"/>
          </a:p>
          <a:p>
            <a:r>
              <a:rPr lang="tr-TR" sz="1400" b="1" dirty="0"/>
              <a:t>Sonuç:</a:t>
            </a:r>
            <a:r>
              <a:rPr lang="tr-TR" sz="1400" dirty="0"/>
              <a:t> Bu tablonun bana sunduğu net kanıtlar sayesinde, karanlıkta el yordamıyla ilerlemek yerine nihai yapay sinir ağımı tamamen bu </a:t>
            </a:r>
            <a:r>
              <a:rPr lang="tr-TR" sz="1400" b="1" dirty="0"/>
              <a:t>"Optimum 4 Bileşen"</a:t>
            </a:r>
            <a:r>
              <a:rPr lang="tr-TR" sz="1400" dirty="0"/>
              <a:t> (15 </a:t>
            </a:r>
            <a:r>
              <a:rPr lang="tr-TR" sz="1400" dirty="0" err="1"/>
              <a:t>Epoch</a:t>
            </a:r>
            <a:r>
              <a:rPr lang="tr-TR" sz="1400" dirty="0"/>
              <a:t>, </a:t>
            </a:r>
            <a:r>
              <a:rPr lang="tr-TR" sz="1400" dirty="0" err="1"/>
              <a:t>ReLU</a:t>
            </a:r>
            <a:r>
              <a:rPr lang="tr-TR" sz="1400" dirty="0"/>
              <a:t>, Adam, 64-32) üzerine inşa ettim ve başarıyla uyguladım.</a:t>
            </a:r>
          </a:p>
        </p:txBody>
      </p:sp>
      <p:sp>
        <p:nvSpPr>
          <p:cNvPr id="2" name="AutoShape 2" descr="Yüklenen resmin önizlemesi">
            <a:extLst>
              <a:ext uri="{FF2B5EF4-FFF2-40B4-BE49-F238E27FC236}">
                <a16:creationId xmlns:a16="http://schemas.microsoft.com/office/drawing/2014/main" id="{245FC134-F229-4F6A-814E-84A783578CDD}"/>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3" name="AutoShape 4" descr="Yüklenen resmin önizlemesi">
            <a:extLst>
              <a:ext uri="{FF2B5EF4-FFF2-40B4-BE49-F238E27FC236}">
                <a16:creationId xmlns:a16="http://schemas.microsoft.com/office/drawing/2014/main" id="{F939E190-AB70-4986-A245-D736489D767E}"/>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9" name="Resim 8">
            <a:extLst>
              <a:ext uri="{FF2B5EF4-FFF2-40B4-BE49-F238E27FC236}">
                <a16:creationId xmlns:a16="http://schemas.microsoft.com/office/drawing/2014/main" id="{B85BFB3C-9278-4E62-BBB1-2B9FCEA898A4}"/>
              </a:ext>
            </a:extLst>
          </p:cNvPr>
          <p:cNvPicPr>
            <a:picLocks noChangeAspect="1"/>
          </p:cNvPicPr>
          <p:nvPr/>
        </p:nvPicPr>
        <p:blipFill>
          <a:blip r:embed="rId2"/>
          <a:stretch>
            <a:fillRect/>
          </a:stretch>
        </p:blipFill>
        <p:spPr>
          <a:xfrm>
            <a:off x="6769277" y="1320125"/>
            <a:ext cx="5213324" cy="3912949"/>
          </a:xfrm>
          <a:prstGeom prst="rect">
            <a:avLst/>
          </a:prstGeom>
        </p:spPr>
      </p:pic>
      <p:pic>
        <p:nvPicPr>
          <p:cNvPr id="15" name="Resim 14">
            <a:extLst>
              <a:ext uri="{FF2B5EF4-FFF2-40B4-BE49-F238E27FC236}">
                <a16:creationId xmlns:a16="http://schemas.microsoft.com/office/drawing/2014/main" id="{EDCC8422-314F-4205-B2E3-21D8E7B23367}"/>
              </a:ext>
            </a:extLst>
          </p:cNvPr>
          <p:cNvPicPr>
            <a:picLocks noChangeAspect="1"/>
          </p:cNvPicPr>
          <p:nvPr/>
        </p:nvPicPr>
        <p:blipFill rotWithShape="1">
          <a:blip r:embed="rId3"/>
          <a:srcRect t="-70" r="17414"/>
          <a:stretch/>
        </p:blipFill>
        <p:spPr>
          <a:xfrm>
            <a:off x="11488057" y="1413595"/>
            <a:ext cx="494544" cy="3764109"/>
          </a:xfrm>
          <a:prstGeom prst="rect">
            <a:avLst/>
          </a:prstGeom>
        </p:spPr>
      </p:pic>
    </p:spTree>
    <p:extLst>
      <p:ext uri="{BB962C8B-B14F-4D97-AF65-F5344CB8AC3E}">
        <p14:creationId xmlns:p14="http://schemas.microsoft.com/office/powerpoint/2010/main" val="1422552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8" name="Metin kutusu 7">
            <a:extLst>
              <a:ext uri="{FF2B5EF4-FFF2-40B4-BE49-F238E27FC236}">
                <a16:creationId xmlns:a16="http://schemas.microsoft.com/office/drawing/2014/main" id="{84EF37B6-AFAF-4294-BF66-E81BE0095CAF}"/>
              </a:ext>
            </a:extLst>
          </p:cNvPr>
          <p:cNvSpPr txBox="1"/>
          <p:nvPr/>
        </p:nvSpPr>
        <p:spPr>
          <a:xfrm>
            <a:off x="1408784" y="497539"/>
            <a:ext cx="9679231" cy="584775"/>
          </a:xfrm>
          <a:prstGeom prst="rect">
            <a:avLst/>
          </a:prstGeom>
          <a:noFill/>
        </p:spPr>
        <p:txBody>
          <a:bodyPr wrap="square">
            <a:spAutoFit/>
          </a:bodyPr>
          <a:lstStyle/>
          <a:p>
            <a:r>
              <a:rPr lang="tr-TR" sz="3200" dirty="0"/>
              <a:t>Akıllı Fren Sistemi: Erken Durdurma (</a:t>
            </a:r>
            <a:r>
              <a:rPr lang="tr-TR" sz="3200" dirty="0" err="1"/>
              <a:t>Early</a:t>
            </a:r>
            <a:r>
              <a:rPr lang="tr-TR" sz="3200" dirty="0"/>
              <a:t> </a:t>
            </a:r>
            <a:r>
              <a:rPr lang="tr-TR" sz="3200" dirty="0" err="1"/>
              <a:t>Stopping</a:t>
            </a:r>
            <a:r>
              <a:rPr lang="tr-TR" sz="3200" dirty="0"/>
              <a:t>)</a:t>
            </a:r>
          </a:p>
        </p:txBody>
      </p:sp>
      <p:sp>
        <p:nvSpPr>
          <p:cNvPr id="11" name="Metin kutusu 10">
            <a:extLst>
              <a:ext uri="{FF2B5EF4-FFF2-40B4-BE49-F238E27FC236}">
                <a16:creationId xmlns:a16="http://schemas.microsoft.com/office/drawing/2014/main" id="{2991B62B-9A27-481C-9E32-9FE039D880A5}"/>
              </a:ext>
            </a:extLst>
          </p:cNvPr>
          <p:cNvSpPr txBox="1"/>
          <p:nvPr/>
        </p:nvSpPr>
        <p:spPr>
          <a:xfrm>
            <a:off x="1319696" y="1319242"/>
            <a:ext cx="9840471" cy="4524315"/>
          </a:xfrm>
          <a:prstGeom prst="rect">
            <a:avLst/>
          </a:prstGeom>
          <a:noFill/>
        </p:spPr>
        <p:txBody>
          <a:bodyPr wrap="square">
            <a:spAutoFit/>
          </a:bodyPr>
          <a:lstStyle/>
          <a:p>
            <a:r>
              <a:rPr lang="tr-TR" b="1" dirty="0"/>
              <a:t>Sigorta Poliçem:</a:t>
            </a:r>
            <a:r>
              <a:rPr lang="tr-TR" dirty="0"/>
              <a:t> Tablodaki testleri gerçekleştirirken ve ideal </a:t>
            </a:r>
            <a:r>
              <a:rPr lang="tr-TR" dirty="0" err="1"/>
              <a:t>epoch</a:t>
            </a:r>
            <a:r>
              <a:rPr lang="tr-TR" dirty="0"/>
              <a:t> sayısını ararken, modelimin veriyi ezberlemesini (</a:t>
            </a:r>
            <a:r>
              <a:rPr lang="tr-TR" dirty="0" err="1"/>
              <a:t>overfitting</a:t>
            </a:r>
            <a:r>
              <a:rPr lang="tr-TR" dirty="0"/>
              <a:t>) kesin olarak engellemek için arka planda bir "Erken Durdurma" (</a:t>
            </a:r>
            <a:r>
              <a:rPr lang="tr-TR" dirty="0" err="1"/>
              <a:t>Early</a:t>
            </a:r>
            <a:r>
              <a:rPr lang="tr-TR" dirty="0"/>
              <a:t> </a:t>
            </a:r>
            <a:r>
              <a:rPr lang="tr-TR" dirty="0" err="1"/>
              <a:t>Stopping</a:t>
            </a:r>
            <a:r>
              <a:rPr lang="tr-TR" dirty="0"/>
              <a:t>) mekanizması kurdum.</a:t>
            </a:r>
          </a:p>
          <a:p>
            <a:endParaRPr lang="tr-TR" dirty="0"/>
          </a:p>
          <a:p>
            <a:endParaRPr lang="tr-TR" dirty="0"/>
          </a:p>
          <a:p>
            <a:r>
              <a:rPr lang="tr-TR" b="1" dirty="0"/>
              <a:t>Nasıl Çalışıyor?:</a:t>
            </a:r>
            <a:r>
              <a:rPr lang="tr-TR" dirty="0"/>
              <a:t> Eğitim sırasında modelin sadece elindeki veriyi ne kadar iyi öğrendiğine değil, aynı zamanda daha önce hiç görmediği doğrulama verisinde (</a:t>
            </a:r>
            <a:r>
              <a:rPr lang="tr-TR" dirty="0" err="1"/>
              <a:t>validation</a:t>
            </a:r>
            <a:r>
              <a:rPr lang="tr-TR" dirty="0"/>
              <a:t> set) nasıl performans gösterdiğine de odaklandım. Eğer modelin doğrulama performansı belirli bir süre boyunca (</a:t>
            </a:r>
            <a:r>
              <a:rPr lang="tr-TR" dirty="0" err="1"/>
              <a:t>patience</a:t>
            </a:r>
            <a:r>
              <a:rPr lang="tr-TR" dirty="0"/>
              <a:t>/sabır değeri) iyileşmeyi durdurur ve kötüye gitmeye başlarsa, o an modelin "öğrenmeyi" bırakıp "ezberlemeye" başladığını anladım ve eğitimi otomatik olarak kestim.</a:t>
            </a:r>
          </a:p>
          <a:p>
            <a:endParaRPr lang="tr-TR" dirty="0"/>
          </a:p>
          <a:p>
            <a:endParaRPr lang="tr-TR" dirty="0"/>
          </a:p>
          <a:p>
            <a:r>
              <a:rPr lang="tr-TR" b="1" dirty="0"/>
              <a:t>Neden Önemli?:</a:t>
            </a:r>
            <a:r>
              <a:rPr lang="tr-TR" dirty="0"/>
              <a:t> Bu akıllı fren sistemi sayesinde, modele başlangıçta 100 veya 80 </a:t>
            </a:r>
            <a:r>
              <a:rPr lang="tr-TR" dirty="0" err="1"/>
              <a:t>epoch</a:t>
            </a:r>
            <a:r>
              <a:rPr lang="tr-TR" dirty="0"/>
              <a:t> gibi yüksek bir eğitim süresi versem bile, o körü körüne sonuna kadar gitmek yerine en verimli olduğu noktada (tabloya göre 20. </a:t>
            </a:r>
            <a:r>
              <a:rPr lang="tr-TR" dirty="0" err="1"/>
              <a:t>epoch</a:t>
            </a:r>
            <a:r>
              <a:rPr lang="tr-TR" dirty="0"/>
              <a:t>)kendi kendini durdurmayı başardı. Tabloda size sunduğum o ideal ve dengeli sonuçları yakalamamı sağlayan gizli kahraman işte bu güvenlik mekanizmasıydı.</a:t>
            </a:r>
          </a:p>
        </p:txBody>
      </p:sp>
    </p:spTree>
    <p:extLst>
      <p:ext uri="{BB962C8B-B14F-4D97-AF65-F5344CB8AC3E}">
        <p14:creationId xmlns:p14="http://schemas.microsoft.com/office/powerpoint/2010/main" val="4108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8" name="Metin kutusu 7">
            <a:extLst>
              <a:ext uri="{FF2B5EF4-FFF2-40B4-BE49-F238E27FC236}">
                <a16:creationId xmlns:a16="http://schemas.microsoft.com/office/drawing/2014/main" id="{84EF37B6-AFAF-4294-BF66-E81BE0095CAF}"/>
              </a:ext>
            </a:extLst>
          </p:cNvPr>
          <p:cNvSpPr txBox="1"/>
          <p:nvPr/>
        </p:nvSpPr>
        <p:spPr>
          <a:xfrm>
            <a:off x="2394236" y="457200"/>
            <a:ext cx="9679231" cy="584775"/>
          </a:xfrm>
          <a:prstGeom prst="rect">
            <a:avLst/>
          </a:prstGeom>
          <a:noFill/>
        </p:spPr>
        <p:txBody>
          <a:bodyPr wrap="square">
            <a:spAutoFit/>
          </a:bodyPr>
          <a:lstStyle/>
          <a:p>
            <a:r>
              <a:rPr lang="tr-TR" sz="3200" dirty="0"/>
              <a:t>Aktivasyon Fonksiyonlarının Yarışı: Neden </a:t>
            </a:r>
            <a:r>
              <a:rPr lang="tr-TR" sz="3200" dirty="0" err="1"/>
              <a:t>ReLU</a:t>
            </a:r>
            <a:r>
              <a:rPr lang="tr-TR" sz="3200" dirty="0"/>
              <a:t>?</a:t>
            </a:r>
          </a:p>
        </p:txBody>
      </p:sp>
      <p:pic>
        <p:nvPicPr>
          <p:cNvPr id="12290" name="Picture 2">
            <a:extLst>
              <a:ext uri="{FF2B5EF4-FFF2-40B4-BE49-F238E27FC236}">
                <a16:creationId xmlns:a16="http://schemas.microsoft.com/office/drawing/2014/main" id="{B8D5B6CF-3A23-4213-9811-82AF2778DE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7597" y="1549285"/>
            <a:ext cx="5290007" cy="4236747"/>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7305D365-649A-4E7D-A5C4-345B477E06B7}"/>
              </a:ext>
            </a:extLst>
          </p:cNvPr>
          <p:cNvSpPr txBox="1"/>
          <p:nvPr/>
        </p:nvSpPr>
        <p:spPr>
          <a:xfrm>
            <a:off x="126999" y="891401"/>
            <a:ext cx="6426201" cy="5755422"/>
          </a:xfrm>
          <a:prstGeom prst="rect">
            <a:avLst/>
          </a:prstGeom>
          <a:noFill/>
        </p:spPr>
        <p:txBody>
          <a:bodyPr wrap="square">
            <a:spAutoFit/>
          </a:bodyPr>
          <a:lstStyle/>
          <a:p>
            <a:r>
              <a:rPr lang="tr-TR" sz="1600" dirty="0"/>
              <a:t>Bu grafikte, yapay sinir ağımın "öğrenme hızını" ve "başarısını" doğrudan etkileyen aktivasyon fonksiyonlarını karşılaştırdım. Kayıp (</a:t>
            </a:r>
            <a:r>
              <a:rPr lang="tr-TR" sz="1600" dirty="0" err="1"/>
              <a:t>Loss</a:t>
            </a:r>
            <a:r>
              <a:rPr lang="tr-TR" sz="1600" dirty="0"/>
              <a:t>) değerinin ne kadar hızlı düştüğünü izleyerek, modelim için en verimli motoru seçtim:</a:t>
            </a:r>
          </a:p>
          <a:p>
            <a:endParaRPr lang="tr-TR" sz="1600" dirty="0"/>
          </a:p>
          <a:p>
            <a:pPr>
              <a:buFont typeface="Arial" panose="020B0604020202020204" pitchFamily="34" charset="0"/>
              <a:buChar char="•"/>
            </a:pPr>
            <a:r>
              <a:rPr lang="tr-TR" sz="1600" b="1" dirty="0"/>
              <a:t>Sigmoid (Mor Kesikli Çizgi):</a:t>
            </a:r>
            <a:r>
              <a:rPr lang="tr-TR" sz="1600" dirty="0"/>
              <a:t> Grafikte en üstte kalan ve en yavaş iyileşme gösteren fonksiyon oldu. Matematiksel yapısı gereği "</a:t>
            </a:r>
            <a:r>
              <a:rPr lang="tr-TR" sz="1600" dirty="0" err="1"/>
              <a:t>gradyan</a:t>
            </a:r>
            <a:r>
              <a:rPr lang="tr-TR" sz="1600" dirty="0"/>
              <a:t> </a:t>
            </a:r>
            <a:r>
              <a:rPr lang="tr-TR" sz="1600" dirty="0" err="1"/>
              <a:t>yokalması</a:t>
            </a:r>
            <a:r>
              <a:rPr lang="tr-TR" sz="1600" dirty="0"/>
              <a:t>" (</a:t>
            </a:r>
            <a:r>
              <a:rPr lang="tr-TR" sz="1600" dirty="0" err="1"/>
              <a:t>vanishing</a:t>
            </a:r>
            <a:r>
              <a:rPr lang="tr-TR" sz="1600" dirty="0"/>
              <a:t> </a:t>
            </a:r>
            <a:r>
              <a:rPr lang="tr-TR" sz="1600" dirty="0" err="1"/>
              <a:t>gradient</a:t>
            </a:r>
            <a:r>
              <a:rPr lang="tr-TR" sz="1600" dirty="0"/>
              <a:t>) problemine takıldığı için öğrenme sürecini hantallaştırdığını ve kaybı düşürmekte zorlandığını gözlemledim.</a:t>
            </a:r>
          </a:p>
          <a:p>
            <a:pPr>
              <a:buFont typeface="Arial" panose="020B0604020202020204" pitchFamily="34" charset="0"/>
              <a:buChar char="•"/>
            </a:pPr>
            <a:endParaRPr lang="tr-TR" sz="1600" dirty="0"/>
          </a:p>
          <a:p>
            <a:pPr>
              <a:buFont typeface="Arial" panose="020B0604020202020204" pitchFamily="34" charset="0"/>
              <a:buChar char="•"/>
            </a:pPr>
            <a:r>
              <a:rPr lang="tr-TR" sz="1600" b="1" dirty="0" err="1"/>
              <a:t>Tanh</a:t>
            </a:r>
            <a:r>
              <a:rPr lang="tr-TR" sz="1600" b="1" dirty="0"/>
              <a:t> (Turuncu Noktalı Çizgi):</a:t>
            </a:r>
            <a:r>
              <a:rPr lang="tr-TR" sz="1600" dirty="0"/>
              <a:t> </a:t>
            </a:r>
            <a:r>
              <a:rPr lang="tr-TR" sz="1600" dirty="0" err="1"/>
              <a:t>Sigmoid'e</a:t>
            </a:r>
            <a:r>
              <a:rPr lang="tr-TR" sz="1600" dirty="0"/>
              <a:t> göre daha iyi bir performans sergilese de, eğitim ilerledikçe </a:t>
            </a:r>
            <a:r>
              <a:rPr lang="tr-TR" sz="1600" dirty="0" err="1"/>
              <a:t>ReLU'nun</a:t>
            </a:r>
            <a:r>
              <a:rPr lang="tr-TR" sz="1600" dirty="0"/>
              <a:t> gerisinde kaldığını gördüm. Orta şekerli bir performans sundu ancak tam olarak istediğim keskinliği veremedi.</a:t>
            </a:r>
          </a:p>
          <a:p>
            <a:endParaRPr lang="tr-TR" sz="1600" dirty="0"/>
          </a:p>
          <a:p>
            <a:pPr>
              <a:buFont typeface="Arial" panose="020B0604020202020204" pitchFamily="34" charset="0"/>
              <a:buChar char="•"/>
            </a:pPr>
            <a:r>
              <a:rPr lang="tr-TR" sz="1600" b="1" dirty="0" err="1"/>
              <a:t>ReLU</a:t>
            </a:r>
            <a:r>
              <a:rPr lang="tr-TR" sz="1600" b="1" dirty="0"/>
              <a:t> (Turkuaz Kalın Çizgi - Optimum):</a:t>
            </a:r>
            <a:r>
              <a:rPr lang="tr-TR" sz="1600" dirty="0"/>
              <a:t> Benim için grafiğin yıldızı kesinlikle </a:t>
            </a:r>
            <a:r>
              <a:rPr lang="tr-TR" sz="1600" dirty="0" err="1"/>
              <a:t>ReLU</a:t>
            </a:r>
            <a:r>
              <a:rPr lang="tr-TR" sz="1600" dirty="0"/>
              <a:t> oldu. En alt seviyeye, yani en düşük hata (</a:t>
            </a:r>
            <a:r>
              <a:rPr lang="tr-TR" sz="1600" dirty="0" err="1"/>
              <a:t>loss</a:t>
            </a:r>
            <a:r>
              <a:rPr lang="tr-TR" sz="1600" dirty="0"/>
              <a:t>) oranına en hızlı ve kararlı şekilde inen fonksiyonun bu olduğunu matematiksel olarak kanıtladım.</a:t>
            </a:r>
          </a:p>
          <a:p>
            <a:pPr>
              <a:buFont typeface="Arial" panose="020B0604020202020204" pitchFamily="34" charset="0"/>
              <a:buChar char="•"/>
            </a:pPr>
            <a:endParaRPr lang="tr-TR" sz="1600" dirty="0"/>
          </a:p>
          <a:p>
            <a:r>
              <a:rPr lang="tr-TR" sz="1600" b="1" dirty="0"/>
              <a:t>Kendi Kararım:</a:t>
            </a:r>
            <a:r>
              <a:rPr lang="tr-TR" sz="1600" dirty="0"/>
              <a:t> Eğrinin eğimine ve ulaştığı son noktaya baktığımda, böbrek verisindeki gizli örüntüleri en az hatayla çözen yapının </a:t>
            </a:r>
            <a:r>
              <a:rPr lang="tr-TR" sz="1600" b="1" dirty="0" err="1"/>
              <a:t>ReLU</a:t>
            </a:r>
            <a:r>
              <a:rPr lang="tr-TR" sz="1600" dirty="0"/>
              <a:t> olduğuna ikna oldum. Bu yüzden nihai modelimde "öğrenme motoru" olarak </a:t>
            </a:r>
            <a:r>
              <a:rPr lang="tr-TR" sz="1600" dirty="0" err="1"/>
              <a:t>ReLU'yu</a:t>
            </a:r>
            <a:r>
              <a:rPr lang="tr-TR" sz="1600" dirty="0"/>
              <a:t> kullanmaya karar verdim.</a:t>
            </a:r>
          </a:p>
        </p:txBody>
      </p:sp>
    </p:spTree>
    <p:extLst>
      <p:ext uri="{BB962C8B-B14F-4D97-AF65-F5344CB8AC3E}">
        <p14:creationId xmlns:p14="http://schemas.microsoft.com/office/powerpoint/2010/main" val="3840413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8" name="Metin kutusu 7">
            <a:extLst>
              <a:ext uri="{FF2B5EF4-FFF2-40B4-BE49-F238E27FC236}">
                <a16:creationId xmlns:a16="http://schemas.microsoft.com/office/drawing/2014/main" id="{84EF37B6-AFAF-4294-BF66-E81BE0095CAF}"/>
              </a:ext>
            </a:extLst>
          </p:cNvPr>
          <p:cNvSpPr txBox="1"/>
          <p:nvPr/>
        </p:nvSpPr>
        <p:spPr>
          <a:xfrm>
            <a:off x="2394236" y="457200"/>
            <a:ext cx="9679231" cy="584775"/>
          </a:xfrm>
          <a:prstGeom prst="rect">
            <a:avLst/>
          </a:prstGeom>
          <a:noFill/>
        </p:spPr>
        <p:txBody>
          <a:bodyPr wrap="square">
            <a:spAutoFit/>
          </a:bodyPr>
          <a:lstStyle/>
          <a:p>
            <a:r>
              <a:rPr lang="tr-TR" sz="3200" dirty="0"/>
              <a:t>Akıllı Hız Kontrolü: Neden Adam </a:t>
            </a:r>
            <a:r>
              <a:rPr lang="tr-TR" sz="3200" dirty="0" err="1"/>
              <a:t>Optimizatörü</a:t>
            </a:r>
            <a:r>
              <a:rPr lang="tr-TR" sz="3200" dirty="0"/>
              <a:t>?</a:t>
            </a:r>
          </a:p>
        </p:txBody>
      </p:sp>
      <p:sp>
        <p:nvSpPr>
          <p:cNvPr id="9" name="Metin kutusu 8">
            <a:extLst>
              <a:ext uri="{FF2B5EF4-FFF2-40B4-BE49-F238E27FC236}">
                <a16:creationId xmlns:a16="http://schemas.microsoft.com/office/drawing/2014/main" id="{7305D365-649A-4E7D-A5C4-345B477E06B7}"/>
              </a:ext>
            </a:extLst>
          </p:cNvPr>
          <p:cNvSpPr txBox="1"/>
          <p:nvPr/>
        </p:nvSpPr>
        <p:spPr>
          <a:xfrm>
            <a:off x="126999" y="891401"/>
            <a:ext cx="6570134" cy="5632311"/>
          </a:xfrm>
          <a:prstGeom prst="rect">
            <a:avLst/>
          </a:prstGeom>
          <a:noFill/>
        </p:spPr>
        <p:txBody>
          <a:bodyPr wrap="square">
            <a:spAutoFit/>
          </a:bodyPr>
          <a:lstStyle/>
          <a:p>
            <a:pPr rtl="0"/>
            <a:r>
              <a:rPr lang="tr-TR" sz="1500" dirty="0">
                <a:effectLst/>
              </a:rPr>
              <a:t>Yapay sinir ağımı eğitirken kullandığım "motorun" verimliliğini ölçmek için farklı optimizasyon algoritmalarını ve öğrenme hızlarını (Learning Rate) karşılaştırdım. Grafikteki </a:t>
            </a:r>
            <a:r>
              <a:rPr lang="tr-TR" sz="1500" dirty="0" err="1">
                <a:effectLst/>
              </a:rPr>
              <a:t>loss</a:t>
            </a:r>
            <a:r>
              <a:rPr lang="tr-TR" sz="1500" dirty="0">
                <a:effectLst/>
              </a:rPr>
              <a:t> (kayıp) eğrilerini analiz ettiğimde, neden </a:t>
            </a:r>
            <a:r>
              <a:rPr lang="tr-TR" sz="1500" b="1" dirty="0">
                <a:effectLst/>
              </a:rPr>
              <a:t>Adam</a:t>
            </a:r>
            <a:r>
              <a:rPr lang="tr-TR" sz="1500" dirty="0">
                <a:effectLst/>
              </a:rPr>
              <a:t> </a:t>
            </a:r>
            <a:r>
              <a:rPr lang="tr-TR" sz="1500" dirty="0" err="1">
                <a:effectLst/>
              </a:rPr>
              <a:t>optimizatörünü</a:t>
            </a:r>
            <a:r>
              <a:rPr lang="tr-TR" sz="1500" dirty="0">
                <a:effectLst/>
              </a:rPr>
              <a:t> seçtiğimi şu şekilde özetleyebilirim:</a:t>
            </a:r>
          </a:p>
          <a:p>
            <a:pPr rtl="0"/>
            <a:endParaRPr lang="tr-TR" sz="1500" dirty="0">
              <a:effectLst/>
            </a:endParaRPr>
          </a:p>
          <a:p>
            <a:pPr rtl="0">
              <a:buFont typeface="Arial" panose="020B0604020202020204" pitchFamily="34" charset="0"/>
              <a:buChar char="•"/>
            </a:pPr>
            <a:r>
              <a:rPr lang="tr-TR" sz="1500" b="1" dirty="0">
                <a:effectLst/>
              </a:rPr>
              <a:t>SGD (Kırmızı Noktalı Çizgi - Yavaş):</a:t>
            </a:r>
            <a:r>
              <a:rPr lang="tr-TR" sz="1500" dirty="0">
                <a:effectLst/>
              </a:rPr>
              <a:t> Standart </a:t>
            </a:r>
            <a:r>
              <a:rPr lang="tr-TR" sz="1500" dirty="0" err="1">
                <a:effectLst/>
              </a:rPr>
              <a:t>Stokastik</a:t>
            </a:r>
            <a:r>
              <a:rPr lang="tr-TR" sz="1500" dirty="0">
                <a:effectLst/>
              </a:rPr>
              <a:t> </a:t>
            </a:r>
            <a:r>
              <a:rPr lang="tr-TR" sz="1500" dirty="0" err="1">
                <a:effectLst/>
              </a:rPr>
              <a:t>Gradyan</a:t>
            </a:r>
            <a:r>
              <a:rPr lang="tr-TR" sz="1500" dirty="0">
                <a:effectLst/>
              </a:rPr>
              <a:t> İnişi (SGD) algoritmasının oldukça hantal kaldığını gözlemledim. Kayıp değerini düşürmek için çok daha fazla </a:t>
            </a:r>
            <a:r>
              <a:rPr lang="tr-TR" sz="1500" dirty="0" err="1">
                <a:effectLst/>
              </a:rPr>
              <a:t>epoch</a:t>
            </a:r>
            <a:r>
              <a:rPr lang="tr-TR" sz="1500" dirty="0">
                <a:effectLst/>
              </a:rPr>
              <a:t> harcıyor ve öğrenme süreci boyunca "yavaş" bir seyir izliyor.</a:t>
            </a:r>
          </a:p>
          <a:p>
            <a:pPr rtl="0">
              <a:buFont typeface="Arial" panose="020B0604020202020204" pitchFamily="34" charset="0"/>
              <a:buChar char="•"/>
            </a:pPr>
            <a:endParaRPr lang="tr-TR" sz="1500" dirty="0">
              <a:effectLst/>
            </a:endParaRPr>
          </a:p>
          <a:p>
            <a:pPr rtl="0">
              <a:buFont typeface="Arial" panose="020B0604020202020204" pitchFamily="34" charset="0"/>
              <a:buChar char="•"/>
            </a:pPr>
            <a:r>
              <a:rPr lang="tr-TR" sz="1500" b="1" dirty="0">
                <a:effectLst/>
              </a:rPr>
              <a:t>Adam (Mavi Kesikli Çizgi - Hızlı/Kararsız):</a:t>
            </a:r>
            <a:r>
              <a:rPr lang="tr-TR" sz="1500" dirty="0">
                <a:effectLst/>
              </a:rPr>
              <a:t> Öğrenme hızını yüksek tuttuğumda (LR=0.01) Adam'ın çok agresif davrandığını gördüm. Grafikteki dalgalanmalardan da fark edebileceğin gibi, hedefe çok hızlı inse de kararsızlıklar yaşıyor. Bu durum, modelin minimum noktayı ıskalamasına veya ezber yapmasına neden olabilir.</a:t>
            </a:r>
          </a:p>
          <a:p>
            <a:pPr rtl="0"/>
            <a:endParaRPr lang="tr-TR" sz="1500" dirty="0">
              <a:effectLst/>
            </a:endParaRPr>
          </a:p>
          <a:p>
            <a:pPr rtl="0">
              <a:buFont typeface="Arial" panose="020B0604020202020204" pitchFamily="34" charset="0"/>
              <a:buChar char="•"/>
            </a:pPr>
            <a:r>
              <a:rPr lang="tr-TR" sz="1500" b="1" dirty="0">
                <a:effectLst/>
              </a:rPr>
              <a:t>Adam (Yeşil Kalın Çizgi - Optimum):</a:t>
            </a:r>
            <a:r>
              <a:rPr lang="tr-TR" sz="1500" dirty="0">
                <a:effectLst/>
              </a:rPr>
              <a:t> İdeal öğrenme hızıyla (LR=0.001) birleştirdiğim Adam </a:t>
            </a:r>
            <a:r>
              <a:rPr lang="tr-TR" sz="1500" dirty="0" err="1">
                <a:effectLst/>
              </a:rPr>
              <a:t>optimizatörü</a:t>
            </a:r>
            <a:r>
              <a:rPr lang="tr-TR" sz="1500" dirty="0">
                <a:effectLst/>
              </a:rPr>
              <a:t>, benim için en dengeli sonuçları verdi. Hem kararlı bir iniş sergiliyor hem de </a:t>
            </a:r>
            <a:r>
              <a:rPr lang="tr-TR" sz="1500" dirty="0" err="1">
                <a:effectLst/>
              </a:rPr>
              <a:t>SGD'ye</a:t>
            </a:r>
            <a:r>
              <a:rPr lang="tr-TR" sz="1500" dirty="0">
                <a:effectLst/>
              </a:rPr>
              <a:t> göre çok daha hızlı bir şekilde düşük hata oranlarına ulaşıyor.</a:t>
            </a:r>
          </a:p>
          <a:p>
            <a:pPr rtl="0">
              <a:buFont typeface="Arial" panose="020B0604020202020204" pitchFamily="34" charset="0"/>
              <a:buChar char="•"/>
            </a:pPr>
            <a:endParaRPr lang="tr-TR" sz="1500" dirty="0">
              <a:effectLst/>
            </a:endParaRPr>
          </a:p>
          <a:p>
            <a:pPr rtl="0"/>
            <a:r>
              <a:rPr lang="tr-TR" sz="1500" b="1" dirty="0">
                <a:effectLst/>
              </a:rPr>
              <a:t>Sonuç Olarak:</a:t>
            </a:r>
            <a:r>
              <a:rPr lang="tr-TR" sz="1500" dirty="0">
                <a:effectLst/>
              </a:rPr>
              <a:t> Adam </a:t>
            </a:r>
            <a:r>
              <a:rPr lang="tr-TR" sz="1500" dirty="0" err="1">
                <a:effectLst/>
              </a:rPr>
              <a:t>optimizatörünü</a:t>
            </a:r>
            <a:r>
              <a:rPr lang="tr-TR" sz="1500" dirty="0">
                <a:effectLst/>
              </a:rPr>
              <a:t> seçmemin temel nedeni, her parametre için öğrenme hızını dinamik olarak ayarlayabilen </a:t>
            </a:r>
            <a:r>
              <a:rPr lang="tr-TR" sz="1500" b="1" dirty="0" err="1">
                <a:effectLst/>
              </a:rPr>
              <a:t>adaptif</a:t>
            </a:r>
            <a:r>
              <a:rPr lang="tr-TR" sz="1500" b="1" dirty="0">
                <a:effectLst/>
              </a:rPr>
              <a:t> yapısıdır.</a:t>
            </a:r>
            <a:r>
              <a:rPr lang="tr-TR" sz="1500" dirty="0">
                <a:effectLst/>
              </a:rPr>
              <a:t> Grafikte yeşil çizgiyle gördüğün o pürüzsüz ve kararlı düşüş, modelimin böbrek yetmezliği verisindeki karmaşık ilişkileri en sağlıklı şekilde öğrendiğinin matematiksel kanıtıdır.</a:t>
            </a:r>
          </a:p>
        </p:txBody>
      </p:sp>
      <p:pic>
        <p:nvPicPr>
          <p:cNvPr id="13314" name="Picture 2">
            <a:extLst>
              <a:ext uri="{FF2B5EF4-FFF2-40B4-BE49-F238E27FC236}">
                <a16:creationId xmlns:a16="http://schemas.microsoft.com/office/drawing/2014/main" id="{75AAC36F-FBEC-4DEF-8F15-76CB8B0DCA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1668" y="1347258"/>
            <a:ext cx="5630332" cy="4163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709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8" name="Metin kutusu 7">
            <a:extLst>
              <a:ext uri="{FF2B5EF4-FFF2-40B4-BE49-F238E27FC236}">
                <a16:creationId xmlns:a16="http://schemas.microsoft.com/office/drawing/2014/main" id="{84EF37B6-AFAF-4294-BF66-E81BE0095CAF}"/>
              </a:ext>
            </a:extLst>
          </p:cNvPr>
          <p:cNvSpPr txBox="1"/>
          <p:nvPr/>
        </p:nvSpPr>
        <p:spPr>
          <a:xfrm>
            <a:off x="1408784" y="497539"/>
            <a:ext cx="9679231" cy="584775"/>
          </a:xfrm>
          <a:prstGeom prst="rect">
            <a:avLst/>
          </a:prstGeom>
          <a:noFill/>
        </p:spPr>
        <p:txBody>
          <a:bodyPr wrap="square">
            <a:spAutoFit/>
          </a:bodyPr>
          <a:lstStyle/>
          <a:p>
            <a:r>
              <a:rPr lang="tr-TR" sz="3200" b="1" dirty="0"/>
              <a:t>Dinamik Yapay Sinir Ağı Mimarisi (</a:t>
            </a:r>
            <a:r>
              <a:rPr lang="tr-TR" sz="3200" b="1" dirty="0" err="1"/>
              <a:t>PyTorchANN</a:t>
            </a:r>
            <a:r>
              <a:rPr lang="tr-TR" sz="3200" b="1" dirty="0"/>
              <a:t>)</a:t>
            </a:r>
            <a:endParaRPr lang="tr-TR" sz="3200" dirty="0"/>
          </a:p>
        </p:txBody>
      </p:sp>
      <p:sp>
        <p:nvSpPr>
          <p:cNvPr id="11" name="Metin kutusu 10">
            <a:extLst>
              <a:ext uri="{FF2B5EF4-FFF2-40B4-BE49-F238E27FC236}">
                <a16:creationId xmlns:a16="http://schemas.microsoft.com/office/drawing/2014/main" id="{2991B62B-9A27-481C-9E32-9FE039D880A5}"/>
              </a:ext>
            </a:extLst>
          </p:cNvPr>
          <p:cNvSpPr txBox="1"/>
          <p:nvPr/>
        </p:nvSpPr>
        <p:spPr>
          <a:xfrm>
            <a:off x="285662" y="1082314"/>
            <a:ext cx="11906337" cy="5355312"/>
          </a:xfrm>
          <a:prstGeom prst="rect">
            <a:avLst/>
          </a:prstGeom>
          <a:noFill/>
        </p:spPr>
        <p:txBody>
          <a:bodyPr wrap="square">
            <a:spAutoFit/>
          </a:bodyPr>
          <a:lstStyle/>
          <a:p>
            <a:r>
              <a:rPr lang="tr-TR" b="1" dirty="0"/>
              <a:t>Özel Tasarım Sınıf: </a:t>
            </a:r>
            <a:r>
              <a:rPr lang="tr-TR" dirty="0" err="1"/>
              <a:t>PyTorch</a:t>
            </a:r>
            <a:r>
              <a:rPr lang="tr-TR" dirty="0"/>
              <a:t> kullanarak sabit ve kısıtlayıcı bir yapı yerine, katman boyutlarını ve parametrelerini dışarıdan belirleyebildiğim esnek ve dinamik bir ağ sınıfı (</a:t>
            </a:r>
            <a:r>
              <a:rPr lang="tr-TR" dirty="0" err="1"/>
              <a:t>PyTorchANN</a:t>
            </a:r>
            <a:r>
              <a:rPr lang="tr-TR" dirty="0"/>
              <a:t>) tasarladım. </a:t>
            </a:r>
          </a:p>
          <a:p>
            <a:endParaRPr lang="tr-TR" b="1" dirty="0"/>
          </a:p>
          <a:p>
            <a:r>
              <a:rPr lang="tr-TR" b="1" dirty="0"/>
              <a:t>Darboğaz (</a:t>
            </a:r>
            <a:r>
              <a:rPr lang="tr-TR" b="1" dirty="0" err="1"/>
              <a:t>Bottleneck</a:t>
            </a:r>
            <a:r>
              <a:rPr lang="tr-TR" b="1" dirty="0"/>
              <a:t>) Mimarisi: </a:t>
            </a:r>
            <a:r>
              <a:rPr lang="tr-TR" dirty="0"/>
              <a:t>Ağın iskeletini </a:t>
            </a:r>
            <a:r>
              <a:rPr lang="tr-TR" b="1" dirty="0"/>
              <a:t>[64, 32] </a:t>
            </a:r>
            <a:r>
              <a:rPr lang="tr-TR" dirty="0"/>
              <a:t>nöron içerecek şekilde, gittikçe daralan bir yapıda kurguladım. Çok sayıdaki klinik girdiyi kademeli olarak sıkıştırıp nihayetinde tek bir çıktıya (0: Sağlıklı veya 1: Hasta) ulaştırdım. Amacım, gereksiz gürültüleri eleyerek modelin böbrek yetmezliğinin gizli "özünü" (</a:t>
            </a:r>
            <a:r>
              <a:rPr lang="tr-TR" dirty="0" err="1"/>
              <a:t>bottleneck</a:t>
            </a:r>
            <a:r>
              <a:rPr lang="tr-TR" dirty="0"/>
              <a:t>) kavramasını sağlamaktı. </a:t>
            </a:r>
          </a:p>
          <a:p>
            <a:endParaRPr lang="tr-TR" b="1" dirty="0"/>
          </a:p>
          <a:p>
            <a:r>
              <a:rPr lang="tr-TR" b="1" dirty="0"/>
              <a:t>Unutkanlık Mekanizması (</a:t>
            </a:r>
            <a:r>
              <a:rPr lang="tr-TR" b="1" dirty="0" err="1"/>
              <a:t>Dropout</a:t>
            </a:r>
            <a:r>
              <a:rPr lang="tr-TR" b="1" dirty="0"/>
              <a:t>): </a:t>
            </a:r>
            <a:r>
              <a:rPr lang="tr-TR" dirty="0"/>
              <a:t>Eğitim sırasında ağın sadece belli laboratuvar değerlerine (örneğin sadece albümin veya </a:t>
            </a:r>
            <a:r>
              <a:rPr lang="tr-TR" dirty="0" err="1"/>
              <a:t>kreatinine</a:t>
            </a:r>
            <a:r>
              <a:rPr lang="tr-TR" dirty="0"/>
              <a:t>) bağımlı kalmasını önlemek için </a:t>
            </a:r>
            <a:r>
              <a:rPr lang="tr-TR" dirty="0" err="1"/>
              <a:t>dropout</a:t>
            </a:r>
            <a:r>
              <a:rPr lang="tr-TR" dirty="0"/>
              <a:t> uyguladım. Bazı nöronları rastgele kapatarak modelin veriyi ezberlemesini engelledim ve genelleme yeteneğini artırdım. </a:t>
            </a:r>
          </a:p>
          <a:p>
            <a:endParaRPr lang="tr-TR" b="1" dirty="0"/>
          </a:p>
          <a:p>
            <a:r>
              <a:rPr lang="tr-TR" b="1" dirty="0"/>
              <a:t>Gizli Katmanlar ve Aktivasyon (</a:t>
            </a:r>
            <a:r>
              <a:rPr lang="tr-TR" b="1" dirty="0" err="1"/>
              <a:t>ReLU</a:t>
            </a:r>
            <a:r>
              <a:rPr lang="tr-TR" b="1" dirty="0"/>
              <a:t>): </a:t>
            </a:r>
            <a:r>
              <a:rPr lang="tr-TR" dirty="0"/>
              <a:t>Yapay sinir ağının gizli katmanlarında (</a:t>
            </a:r>
            <a:r>
              <a:rPr lang="tr-TR" dirty="0" err="1"/>
              <a:t>hidden</a:t>
            </a:r>
            <a:r>
              <a:rPr lang="tr-TR" dirty="0"/>
              <a:t> </a:t>
            </a:r>
            <a:r>
              <a:rPr lang="tr-TR" dirty="0" err="1"/>
              <a:t>layers</a:t>
            </a:r>
            <a:r>
              <a:rPr lang="tr-TR" dirty="0"/>
              <a:t>), derin öğrenme endüstri standardı olan ve modelin doğrusal olmayan karmaşık ilişkileri öğrenmesini sağlayan </a:t>
            </a:r>
            <a:r>
              <a:rPr lang="tr-TR" b="1" dirty="0" err="1"/>
              <a:t>ReLU</a:t>
            </a:r>
            <a:r>
              <a:rPr lang="tr-TR" b="1" dirty="0"/>
              <a:t> (</a:t>
            </a:r>
            <a:r>
              <a:rPr lang="tr-TR" b="1" dirty="0" err="1"/>
              <a:t>Rectified</a:t>
            </a:r>
            <a:r>
              <a:rPr lang="tr-TR" b="1" dirty="0"/>
              <a:t> </a:t>
            </a:r>
            <a:r>
              <a:rPr lang="tr-TR" b="1" dirty="0" err="1"/>
              <a:t>Linear</a:t>
            </a:r>
            <a:r>
              <a:rPr lang="tr-TR" b="1" dirty="0"/>
              <a:t> </a:t>
            </a:r>
            <a:r>
              <a:rPr lang="tr-TR" b="1" dirty="0" err="1"/>
              <a:t>Unit</a:t>
            </a:r>
            <a:r>
              <a:rPr lang="tr-TR" b="1" dirty="0"/>
              <a:t>) </a:t>
            </a:r>
            <a:r>
              <a:rPr lang="tr-TR" dirty="0"/>
              <a:t>aktivasyon fonksiyonunu kullandım. </a:t>
            </a:r>
          </a:p>
          <a:p>
            <a:endParaRPr lang="tr-TR" b="1" dirty="0"/>
          </a:p>
          <a:p>
            <a:r>
              <a:rPr lang="tr-TR" b="1" dirty="0"/>
              <a:t>Optimizasyon ve Kararlılık: </a:t>
            </a:r>
            <a:r>
              <a:rPr lang="tr-TR" dirty="0"/>
              <a:t>Hızlı ve </a:t>
            </a:r>
            <a:r>
              <a:rPr lang="tr-TR" dirty="0" err="1"/>
              <a:t>adaptif</a:t>
            </a:r>
            <a:r>
              <a:rPr lang="tr-TR" dirty="0"/>
              <a:t> öğrenme yeteneğiyle öne çıkan Adam optimizasyon algoritmasını seçtim ve eğitim sürecini en verimli nokta olduğunu tespit ettiğim 15 </a:t>
            </a:r>
            <a:r>
              <a:rPr lang="tr-TR" dirty="0" err="1"/>
              <a:t>Epoch</a:t>
            </a:r>
            <a:r>
              <a:rPr lang="tr-TR" dirty="0"/>
              <a:t> ile sınırladım. Çıktıda ise bilinçli olarak Sigmoid kullanmadım; matematiksel kararlılığı (</a:t>
            </a:r>
            <a:r>
              <a:rPr lang="tr-TR" dirty="0" err="1"/>
              <a:t>numerical</a:t>
            </a:r>
            <a:r>
              <a:rPr lang="tr-TR" dirty="0"/>
              <a:t> </a:t>
            </a:r>
            <a:r>
              <a:rPr lang="tr-TR" dirty="0" err="1"/>
              <a:t>stability</a:t>
            </a:r>
            <a:r>
              <a:rPr lang="tr-TR" dirty="0"/>
              <a:t>) maksimize etmek için doğrudan </a:t>
            </a:r>
            <a:r>
              <a:rPr lang="tr-TR" dirty="0" err="1"/>
              <a:t>Logits</a:t>
            </a:r>
            <a:r>
              <a:rPr lang="tr-TR" dirty="0"/>
              <a:t> üreten </a:t>
            </a:r>
            <a:r>
              <a:rPr lang="tr-TR" b="1" dirty="0" err="1"/>
              <a:t>BCEWithLogitsLoss</a:t>
            </a:r>
            <a:r>
              <a:rPr lang="tr-TR" dirty="0"/>
              <a:t> fonksiyonunu tercih ettim.</a:t>
            </a:r>
          </a:p>
        </p:txBody>
      </p:sp>
    </p:spTree>
    <p:extLst>
      <p:ext uri="{BB962C8B-B14F-4D97-AF65-F5344CB8AC3E}">
        <p14:creationId xmlns:p14="http://schemas.microsoft.com/office/powerpoint/2010/main" val="3141212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8" name="Metin kutusu 7">
            <a:extLst>
              <a:ext uri="{FF2B5EF4-FFF2-40B4-BE49-F238E27FC236}">
                <a16:creationId xmlns:a16="http://schemas.microsoft.com/office/drawing/2014/main" id="{84EF37B6-AFAF-4294-BF66-E81BE0095CAF}"/>
              </a:ext>
            </a:extLst>
          </p:cNvPr>
          <p:cNvSpPr txBox="1"/>
          <p:nvPr/>
        </p:nvSpPr>
        <p:spPr>
          <a:xfrm>
            <a:off x="553651" y="477274"/>
            <a:ext cx="11638349" cy="1169551"/>
          </a:xfrm>
          <a:prstGeom prst="rect">
            <a:avLst/>
          </a:prstGeom>
          <a:noFill/>
        </p:spPr>
        <p:txBody>
          <a:bodyPr wrap="square">
            <a:spAutoFit/>
          </a:bodyPr>
          <a:lstStyle/>
          <a:p>
            <a:r>
              <a:rPr lang="it-IT" sz="3500" b="1" dirty="0"/>
              <a:t>Model Başarı Analizi: Final Performans Karnesi</a:t>
            </a:r>
            <a:r>
              <a:rPr lang="tr-TR" sz="3500" b="1" dirty="0"/>
              <a:t> (</a:t>
            </a:r>
            <a:r>
              <a:rPr lang="tr-TR" sz="3500" b="1" dirty="0" err="1"/>
              <a:t>ReLU</a:t>
            </a:r>
            <a:r>
              <a:rPr lang="tr-TR" sz="3500" b="1" dirty="0"/>
              <a:t>)</a:t>
            </a:r>
            <a:br>
              <a:rPr lang="it-IT" sz="3500" b="1" dirty="0"/>
            </a:br>
            <a:endParaRPr lang="tr-TR" sz="3500" dirty="0"/>
          </a:p>
        </p:txBody>
      </p:sp>
      <p:sp>
        <p:nvSpPr>
          <p:cNvPr id="11" name="Metin kutusu 10">
            <a:extLst>
              <a:ext uri="{FF2B5EF4-FFF2-40B4-BE49-F238E27FC236}">
                <a16:creationId xmlns:a16="http://schemas.microsoft.com/office/drawing/2014/main" id="{2991B62B-9A27-481C-9E32-9FE039D880A5}"/>
              </a:ext>
            </a:extLst>
          </p:cNvPr>
          <p:cNvSpPr txBox="1"/>
          <p:nvPr/>
        </p:nvSpPr>
        <p:spPr>
          <a:xfrm>
            <a:off x="285663" y="1082314"/>
            <a:ext cx="5810337" cy="517064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500" b="1" i="0" u="none" strike="noStrike" cap="none" normalizeH="0" baseline="0" dirty="0">
                <a:ln>
                  <a:noFill/>
                </a:ln>
                <a:solidFill>
                  <a:schemeClr val="tx1"/>
                </a:solidFill>
                <a:effectLst/>
                <a:latin typeface="Arial" panose="020B0604020202020204" pitchFamily="34" charset="0"/>
              </a:rPr>
              <a:t>Hata Matrisi (</a:t>
            </a:r>
            <a:r>
              <a:rPr kumimoji="0" lang="tr-TR" altLang="tr-TR" sz="1500" b="1" i="0" u="none" strike="noStrike" cap="none" normalizeH="0" baseline="0" dirty="0" err="1">
                <a:ln>
                  <a:noFill/>
                </a:ln>
                <a:solidFill>
                  <a:schemeClr val="tx1"/>
                </a:solidFill>
                <a:effectLst/>
                <a:latin typeface="Arial" panose="020B0604020202020204" pitchFamily="34" charset="0"/>
              </a:rPr>
              <a:t>Confusion</a:t>
            </a:r>
            <a:r>
              <a:rPr kumimoji="0" lang="tr-TR" altLang="tr-TR" sz="1500" b="1" i="0" u="none" strike="noStrike" cap="none" normalizeH="0" baseline="0" dirty="0">
                <a:ln>
                  <a:noFill/>
                </a:ln>
                <a:solidFill>
                  <a:schemeClr val="tx1"/>
                </a:solidFill>
                <a:effectLst/>
                <a:latin typeface="Arial" panose="020B0604020202020204" pitchFamily="34" charset="0"/>
              </a:rPr>
              <a:t> </a:t>
            </a:r>
            <a:r>
              <a:rPr kumimoji="0" lang="tr-TR" altLang="tr-TR" sz="1500" b="1" i="0" u="none" strike="noStrike" cap="none" normalizeH="0" baseline="0" dirty="0" err="1">
                <a:ln>
                  <a:noFill/>
                </a:ln>
                <a:solidFill>
                  <a:schemeClr val="tx1"/>
                </a:solidFill>
                <a:effectLst/>
                <a:latin typeface="Arial" panose="020B0604020202020204" pitchFamily="34" charset="0"/>
              </a:rPr>
              <a:t>Matrix</a:t>
            </a:r>
            <a:r>
              <a:rPr kumimoji="0" lang="tr-TR" altLang="tr-TR" sz="1500" b="1" i="0" u="none" strike="noStrike" cap="none" normalizeH="0" baseline="0" dirty="0">
                <a:ln>
                  <a:noFill/>
                </a:ln>
                <a:solidFill>
                  <a:schemeClr val="tx1"/>
                </a:solidFill>
                <a:effectLst/>
                <a:latin typeface="Arial" panose="020B0604020202020204" pitchFamily="34" charset="0"/>
              </a:rPr>
              <a:t> ):</a:t>
            </a:r>
            <a:r>
              <a:rPr kumimoji="0" lang="tr-TR" altLang="tr-TR" sz="1500" b="0" i="0" u="none" strike="noStrike" cap="none" normalizeH="0" baseline="0" dirty="0">
                <a:ln>
                  <a:noFill/>
                </a:ln>
                <a:solidFill>
                  <a:schemeClr val="tx1"/>
                </a:solidFill>
                <a:effectLst/>
                <a:latin typeface="Arial" panose="020B0604020202020204" pitchFamily="34" charset="0"/>
              </a:rPr>
              <a:t> Test setindeki 60 örneğin sonuçlarına baktığımda, modelimin 20 sağlıklı bireyi tamamıyla doğru tahminlerken, 40 gerçek </a:t>
            </a:r>
            <a:r>
              <a:rPr lang="tr-TR" altLang="tr-TR" sz="1500" dirty="0">
                <a:latin typeface="Arial" panose="020B0604020202020204" pitchFamily="34" charset="0"/>
              </a:rPr>
              <a:t>hastanın yalnızca «2» tanesini kaçırdığını </a:t>
            </a:r>
            <a:r>
              <a:rPr kumimoji="0" lang="tr-TR" altLang="tr-TR" sz="1500" b="0" i="0" u="none" strike="noStrike" cap="none" normalizeH="0" baseline="0" dirty="0">
                <a:ln>
                  <a:noFill/>
                </a:ln>
                <a:solidFill>
                  <a:schemeClr val="tx1"/>
                </a:solidFill>
                <a:effectLst/>
                <a:latin typeface="Arial" panose="020B0604020202020204" pitchFamily="34" charset="0"/>
              </a:rPr>
              <a:t>görebiliyorum. </a:t>
            </a:r>
            <a:r>
              <a:rPr lang="tr-TR" altLang="tr-TR" sz="1500" dirty="0">
                <a:latin typeface="Arial" panose="020B0604020202020204" pitchFamily="34" charset="0"/>
              </a:rPr>
              <a:t>Tıpta önemli olan </a:t>
            </a:r>
            <a:r>
              <a:rPr lang="tr-TR" altLang="tr-TR" sz="1500" b="1" dirty="0" err="1">
                <a:latin typeface="Arial" panose="020B0604020202020204" pitchFamily="34" charset="0"/>
              </a:rPr>
              <a:t>False</a:t>
            </a:r>
            <a:r>
              <a:rPr lang="tr-TR" altLang="tr-TR" sz="1500" b="1" dirty="0">
                <a:latin typeface="Arial" panose="020B0604020202020204" pitchFamily="34" charset="0"/>
              </a:rPr>
              <a:t> </a:t>
            </a:r>
            <a:r>
              <a:rPr lang="tr-TR" altLang="tr-TR" sz="1500" b="1" dirty="0" err="1">
                <a:latin typeface="Arial" panose="020B0604020202020204" pitchFamily="34" charset="0"/>
              </a:rPr>
              <a:t>Negative</a:t>
            </a:r>
            <a:r>
              <a:rPr lang="tr-TR" altLang="tr-TR" sz="1500" b="1" dirty="0">
                <a:latin typeface="Arial" panose="020B0604020202020204" pitchFamily="34" charset="0"/>
              </a:rPr>
              <a:t> </a:t>
            </a:r>
            <a:r>
              <a:rPr lang="tr-TR" altLang="tr-TR" sz="1500" dirty="0">
                <a:latin typeface="Arial" panose="020B0604020202020204" pitchFamily="34" charset="0"/>
              </a:rPr>
              <a:t>değeri</a:t>
            </a:r>
            <a:r>
              <a:rPr lang="tr-TR" altLang="tr-TR" sz="1500" b="1" dirty="0">
                <a:latin typeface="Arial" panose="020B0604020202020204" pitchFamily="34" charset="0"/>
              </a:rPr>
              <a:t> </a:t>
            </a:r>
            <a:r>
              <a:rPr lang="tr-TR" altLang="tr-TR" sz="1500" dirty="0">
                <a:latin typeface="Arial" panose="020B0604020202020204" pitchFamily="34" charset="0"/>
              </a:rPr>
              <a:t>yalnızca %5 olarak karşımıza çıkıyor.</a:t>
            </a:r>
            <a:endParaRPr kumimoji="0" lang="tr-TR" altLang="tr-TR"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500" b="1" i="0" u="none" strike="noStrike" cap="none" normalizeH="0" baseline="0" dirty="0">
                <a:ln>
                  <a:noFill/>
                </a:ln>
                <a:solidFill>
                  <a:schemeClr val="tx1"/>
                </a:solidFill>
                <a:effectLst/>
                <a:latin typeface="Arial" panose="020B0604020202020204" pitchFamily="34" charset="0"/>
              </a:rPr>
              <a:t>Eğitim Kaybı (Training </a:t>
            </a:r>
            <a:r>
              <a:rPr kumimoji="0" lang="tr-TR" altLang="tr-TR" sz="1500" b="1" i="0" u="none" strike="noStrike" cap="none" normalizeH="0" baseline="0" dirty="0" err="1">
                <a:ln>
                  <a:noFill/>
                </a:ln>
                <a:solidFill>
                  <a:schemeClr val="tx1"/>
                </a:solidFill>
                <a:effectLst/>
                <a:latin typeface="Arial" panose="020B0604020202020204" pitchFamily="34" charset="0"/>
              </a:rPr>
              <a:t>Loss</a:t>
            </a:r>
            <a:r>
              <a:rPr kumimoji="0" lang="tr-TR" altLang="tr-TR" sz="1500" b="1" i="0" u="none" strike="noStrike" cap="none" normalizeH="0" baseline="0" dirty="0">
                <a:ln>
                  <a:noFill/>
                </a:ln>
                <a:solidFill>
                  <a:schemeClr val="tx1"/>
                </a:solidFill>
                <a:effectLst/>
                <a:latin typeface="Arial" panose="020B0604020202020204" pitchFamily="34" charset="0"/>
              </a:rPr>
              <a:t>):</a:t>
            </a:r>
            <a:r>
              <a:rPr kumimoji="0" lang="tr-TR" altLang="tr-TR" sz="1500" b="0" i="0" u="none" strike="noStrike" cap="none" normalizeH="0" baseline="0" dirty="0">
                <a:ln>
                  <a:noFill/>
                </a:ln>
                <a:solidFill>
                  <a:schemeClr val="tx1"/>
                </a:solidFill>
                <a:effectLst/>
                <a:latin typeface="Arial" panose="020B0604020202020204" pitchFamily="34" charset="0"/>
              </a:rPr>
              <a:t> Kırmızı eğrinin 100 </a:t>
            </a:r>
            <a:r>
              <a:rPr kumimoji="0" lang="tr-TR" altLang="tr-TR" sz="1500" b="0" i="0" u="none" strike="noStrike" cap="none" normalizeH="0" baseline="0" dirty="0" err="1">
                <a:ln>
                  <a:noFill/>
                </a:ln>
                <a:solidFill>
                  <a:schemeClr val="tx1"/>
                </a:solidFill>
                <a:effectLst/>
                <a:latin typeface="Arial" panose="020B0604020202020204" pitchFamily="34" charset="0"/>
              </a:rPr>
              <a:t>epoch</a:t>
            </a:r>
            <a:r>
              <a:rPr kumimoji="0" lang="tr-TR" altLang="tr-TR" sz="1500" b="0" i="0" u="none" strike="noStrike" cap="none" normalizeH="0" baseline="0" dirty="0">
                <a:ln>
                  <a:noFill/>
                </a:ln>
                <a:solidFill>
                  <a:schemeClr val="tx1"/>
                </a:solidFill>
                <a:effectLst/>
                <a:latin typeface="Arial" panose="020B0604020202020204" pitchFamily="34" charset="0"/>
              </a:rPr>
              <a:t> boyunca pürüzsüz bir şekilde aşağı inmesi, modelimin öğrenme sürecinin ne kadar stabil olduğunu kanıtlıyor. Herhangi bir aşırı dalgalanma olmaması, seçtiğim öğrenme hızı ve </a:t>
            </a:r>
            <a:r>
              <a:rPr kumimoji="0" lang="tr-TR" altLang="tr-TR" sz="1500" b="0" i="0" u="none" strike="noStrike" cap="none" normalizeH="0" baseline="0" dirty="0" err="1">
                <a:ln>
                  <a:noFill/>
                </a:ln>
                <a:solidFill>
                  <a:schemeClr val="tx1"/>
                </a:solidFill>
                <a:effectLst/>
                <a:latin typeface="Arial" panose="020B0604020202020204" pitchFamily="34" charset="0"/>
              </a:rPr>
              <a:t>optimizatörün</a:t>
            </a:r>
            <a:r>
              <a:rPr kumimoji="0" lang="tr-TR" altLang="tr-TR" sz="1500" b="0" i="0" u="none" strike="noStrike" cap="none" normalizeH="0" baseline="0" dirty="0">
                <a:ln>
                  <a:noFill/>
                </a:ln>
                <a:solidFill>
                  <a:schemeClr val="tx1"/>
                </a:solidFill>
                <a:effectLst/>
                <a:latin typeface="Arial" panose="020B0604020202020204" pitchFamily="34" charset="0"/>
              </a:rPr>
              <a:t> (Adam) veriyi mükemmel bir şekilde işlediğini gösteriyor.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500" b="1" i="0" u="none" strike="noStrike" cap="none" normalizeH="0" baseline="0" dirty="0">
                <a:ln>
                  <a:noFill/>
                </a:ln>
                <a:solidFill>
                  <a:schemeClr val="tx1"/>
                </a:solidFill>
                <a:effectLst/>
                <a:latin typeface="Arial" panose="020B0604020202020204" pitchFamily="34" charset="0"/>
              </a:rPr>
              <a:t>Başarı Oranı (</a:t>
            </a:r>
            <a:r>
              <a:rPr kumimoji="0" lang="tr-TR" altLang="tr-TR" sz="1500" b="1" i="0" u="none" strike="noStrike" cap="none" normalizeH="0" baseline="0" dirty="0" err="1">
                <a:ln>
                  <a:noFill/>
                </a:ln>
                <a:solidFill>
                  <a:schemeClr val="tx1"/>
                </a:solidFill>
                <a:effectLst/>
                <a:latin typeface="Arial" panose="020B0604020202020204" pitchFamily="34" charset="0"/>
              </a:rPr>
              <a:t>Accuracy</a:t>
            </a:r>
            <a:r>
              <a:rPr kumimoji="0" lang="tr-TR" altLang="tr-TR" sz="1500" b="1" i="0" u="none" strike="noStrike" cap="none" normalizeH="0" baseline="0" dirty="0">
                <a:ln>
                  <a:noFill/>
                </a:ln>
                <a:solidFill>
                  <a:schemeClr val="tx1"/>
                </a:solidFill>
                <a:effectLst/>
                <a:latin typeface="Arial" panose="020B0604020202020204" pitchFamily="34" charset="0"/>
              </a:rPr>
              <a:t>):</a:t>
            </a:r>
            <a:r>
              <a:rPr kumimoji="0" lang="tr-TR" altLang="tr-TR" sz="1500" b="0" i="0" u="none" strike="noStrike" cap="none" normalizeH="0" baseline="0" dirty="0">
                <a:ln>
                  <a:noFill/>
                </a:ln>
                <a:solidFill>
                  <a:schemeClr val="tx1"/>
                </a:solidFill>
                <a:effectLst/>
                <a:latin typeface="Arial" panose="020B0604020202020204" pitchFamily="34" charset="0"/>
              </a:rPr>
              <a:t> Eğitim (mavi) ve doğrulama (turuncu) çizgilerinin birbirine çok yakın ve paralel bir şekilde %100'e doğru yükselmesi, en büyük korkumuz olan </a:t>
            </a:r>
            <a:r>
              <a:rPr kumimoji="0" lang="tr-TR" altLang="tr-TR" sz="1500" b="1" i="0" u="none" strike="noStrike" cap="none" normalizeH="0" baseline="0" dirty="0">
                <a:ln>
                  <a:noFill/>
                </a:ln>
                <a:solidFill>
                  <a:schemeClr val="tx1"/>
                </a:solidFill>
                <a:effectLst/>
                <a:latin typeface="Arial" panose="020B0604020202020204" pitchFamily="34" charset="0"/>
              </a:rPr>
              <a:t>ezberleme (</a:t>
            </a:r>
            <a:r>
              <a:rPr kumimoji="0" lang="tr-TR" altLang="tr-TR" sz="1500" b="1" i="0" u="none" strike="noStrike" cap="none" normalizeH="0" baseline="0" dirty="0" err="1">
                <a:ln>
                  <a:noFill/>
                </a:ln>
                <a:solidFill>
                  <a:schemeClr val="tx1"/>
                </a:solidFill>
                <a:effectLst/>
                <a:latin typeface="Arial" panose="020B0604020202020204" pitchFamily="34" charset="0"/>
              </a:rPr>
              <a:t>overfitting</a:t>
            </a:r>
            <a:r>
              <a:rPr kumimoji="0" lang="tr-TR" altLang="tr-TR" sz="1500" b="1" i="0" u="none" strike="noStrike" cap="none" normalizeH="0" baseline="0" dirty="0">
                <a:ln>
                  <a:noFill/>
                </a:ln>
                <a:solidFill>
                  <a:schemeClr val="tx1"/>
                </a:solidFill>
                <a:effectLst/>
                <a:latin typeface="Arial" panose="020B0604020202020204" pitchFamily="34" charset="0"/>
              </a:rPr>
              <a:t>) problemini tamamen aştığımı</a:t>
            </a:r>
            <a:r>
              <a:rPr kumimoji="0" lang="tr-TR" altLang="tr-TR" sz="1500" b="0" i="0" u="none" strike="noStrike" cap="none" normalizeH="0" baseline="0" dirty="0">
                <a:ln>
                  <a:noFill/>
                </a:ln>
                <a:solidFill>
                  <a:schemeClr val="tx1"/>
                </a:solidFill>
                <a:effectLst/>
                <a:latin typeface="Arial" panose="020B0604020202020204" pitchFamily="34" charset="0"/>
              </a:rPr>
              <a:t> gösteriyor. Model, görmediği verilerde de tıpkı eğitimdeki gibi yüksek performans sergiliyor.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tr-TR" altLang="tr-TR"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500" b="1" i="0" u="none" strike="noStrike" cap="none" normalizeH="0" baseline="0" dirty="0">
                <a:ln>
                  <a:noFill/>
                </a:ln>
                <a:solidFill>
                  <a:schemeClr val="tx1"/>
                </a:solidFill>
                <a:effectLst/>
                <a:latin typeface="Arial" panose="020B0604020202020204" pitchFamily="34" charset="0"/>
              </a:rPr>
              <a:t>ROC Eğrisi :</a:t>
            </a:r>
            <a:r>
              <a:rPr kumimoji="0" lang="tr-TR" altLang="tr-TR" sz="1500" b="0" i="0" u="none" strike="noStrike" cap="none" normalizeH="0" baseline="0" dirty="0">
                <a:ln>
                  <a:noFill/>
                </a:ln>
                <a:solidFill>
                  <a:schemeClr val="tx1"/>
                </a:solidFill>
                <a:effectLst/>
                <a:latin typeface="Arial" panose="020B0604020202020204" pitchFamily="34" charset="0"/>
              </a:rPr>
              <a:t> Teşhis gücünü gösteren bu grafikte, turuncu çizginin sol üst köşeye dayanması ve </a:t>
            </a:r>
            <a:r>
              <a:rPr kumimoji="0" lang="tr-TR" altLang="tr-TR" sz="1500" b="1" i="0" u="none" strike="noStrike" cap="none" normalizeH="0" baseline="0" dirty="0">
                <a:ln>
                  <a:noFill/>
                </a:ln>
                <a:solidFill>
                  <a:schemeClr val="tx1"/>
                </a:solidFill>
                <a:effectLst/>
                <a:latin typeface="Arial" panose="020B0604020202020204" pitchFamily="34" charset="0"/>
              </a:rPr>
              <a:t>AUC = 1.0000</a:t>
            </a:r>
            <a:r>
              <a:rPr kumimoji="0" lang="tr-TR" altLang="tr-TR" sz="1500" b="0" i="0" u="none" strike="noStrike" cap="none" normalizeH="0" baseline="0" dirty="0">
                <a:ln>
                  <a:noFill/>
                </a:ln>
                <a:solidFill>
                  <a:schemeClr val="tx1"/>
                </a:solidFill>
                <a:effectLst/>
                <a:latin typeface="Arial" panose="020B0604020202020204" pitchFamily="34" charset="0"/>
              </a:rPr>
              <a:t> değerine ulaşması, modelimin hasta ve sağlıklı bireyleri birbirinden ayırma yeteneğinin kusursuz olduğunu matematiksel olarak ilan ediyor.</a:t>
            </a:r>
          </a:p>
        </p:txBody>
      </p:sp>
      <p:pic>
        <p:nvPicPr>
          <p:cNvPr id="15362" name="Picture 2">
            <a:extLst>
              <a:ext uri="{FF2B5EF4-FFF2-40B4-BE49-F238E27FC236}">
                <a16:creationId xmlns:a16="http://schemas.microsoft.com/office/drawing/2014/main" id="{F7A04784-3472-410F-9FE7-2938B0AA5D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1010760"/>
            <a:ext cx="5962737" cy="4519919"/>
          </a:xfrm>
          <a:prstGeom prst="rect">
            <a:avLst/>
          </a:prstGeom>
          <a:noFill/>
          <a:extLst>
            <a:ext uri="{909E8E84-426E-40DD-AFC4-6F175D3DCCD1}">
              <a14:hiddenFill xmlns:a14="http://schemas.microsoft.com/office/drawing/2010/main">
                <a:solidFill>
                  <a:srgbClr val="FFFFFF"/>
                </a:solidFill>
              </a14:hiddenFill>
            </a:ext>
          </a:extLst>
        </p:spPr>
      </p:pic>
      <p:pic>
        <p:nvPicPr>
          <p:cNvPr id="3" name="Resim 2">
            <a:extLst>
              <a:ext uri="{FF2B5EF4-FFF2-40B4-BE49-F238E27FC236}">
                <a16:creationId xmlns:a16="http://schemas.microsoft.com/office/drawing/2014/main" id="{6C984956-B403-477C-83F0-8D3C4FE3E97E}"/>
              </a:ext>
            </a:extLst>
          </p:cNvPr>
          <p:cNvPicPr>
            <a:picLocks noChangeAspect="1"/>
          </p:cNvPicPr>
          <p:nvPr/>
        </p:nvPicPr>
        <p:blipFill>
          <a:blip r:embed="rId3"/>
          <a:stretch>
            <a:fillRect/>
          </a:stretch>
        </p:blipFill>
        <p:spPr>
          <a:xfrm>
            <a:off x="9215433" y="5694279"/>
            <a:ext cx="2748031" cy="949320"/>
          </a:xfrm>
          <a:prstGeom prst="rect">
            <a:avLst/>
          </a:prstGeom>
        </p:spPr>
      </p:pic>
      <p:pic>
        <p:nvPicPr>
          <p:cNvPr id="6" name="Resim 5">
            <a:extLst>
              <a:ext uri="{FF2B5EF4-FFF2-40B4-BE49-F238E27FC236}">
                <a16:creationId xmlns:a16="http://schemas.microsoft.com/office/drawing/2014/main" id="{6913D618-EE6F-4E77-8ED1-857FB81E6BA9}"/>
              </a:ext>
            </a:extLst>
          </p:cNvPr>
          <p:cNvPicPr>
            <a:picLocks noChangeAspect="1"/>
          </p:cNvPicPr>
          <p:nvPr/>
        </p:nvPicPr>
        <p:blipFill>
          <a:blip r:embed="rId4"/>
          <a:stretch>
            <a:fillRect/>
          </a:stretch>
        </p:blipFill>
        <p:spPr>
          <a:xfrm>
            <a:off x="6167434" y="5595877"/>
            <a:ext cx="2976565" cy="1146124"/>
          </a:xfrm>
          <a:prstGeom prst="rect">
            <a:avLst/>
          </a:prstGeom>
        </p:spPr>
      </p:pic>
    </p:spTree>
    <p:extLst>
      <p:ext uri="{BB962C8B-B14F-4D97-AF65-F5344CB8AC3E}">
        <p14:creationId xmlns:p14="http://schemas.microsoft.com/office/powerpoint/2010/main" val="282719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8" name="Metin kutusu 7">
            <a:extLst>
              <a:ext uri="{FF2B5EF4-FFF2-40B4-BE49-F238E27FC236}">
                <a16:creationId xmlns:a16="http://schemas.microsoft.com/office/drawing/2014/main" id="{84EF37B6-AFAF-4294-BF66-E81BE0095CAF}"/>
              </a:ext>
            </a:extLst>
          </p:cNvPr>
          <p:cNvSpPr txBox="1"/>
          <p:nvPr/>
        </p:nvSpPr>
        <p:spPr>
          <a:xfrm>
            <a:off x="2222974" y="457200"/>
            <a:ext cx="11638349" cy="461665"/>
          </a:xfrm>
          <a:prstGeom prst="rect">
            <a:avLst/>
          </a:prstGeom>
          <a:noFill/>
        </p:spPr>
        <p:txBody>
          <a:bodyPr wrap="square">
            <a:spAutoFit/>
          </a:bodyPr>
          <a:lstStyle/>
          <a:p>
            <a:r>
              <a:rPr lang="tr-TR" sz="2400" b="1" dirty="0"/>
              <a:t>Performans Analizi: SIGMOID Aktivasyonu</a:t>
            </a:r>
          </a:p>
        </p:txBody>
      </p:sp>
      <p:sp>
        <p:nvSpPr>
          <p:cNvPr id="11" name="Metin kutusu 10">
            <a:extLst>
              <a:ext uri="{FF2B5EF4-FFF2-40B4-BE49-F238E27FC236}">
                <a16:creationId xmlns:a16="http://schemas.microsoft.com/office/drawing/2014/main" id="{2991B62B-9A27-481C-9E32-9FE039D880A5}"/>
              </a:ext>
            </a:extLst>
          </p:cNvPr>
          <p:cNvSpPr txBox="1"/>
          <p:nvPr/>
        </p:nvSpPr>
        <p:spPr>
          <a:xfrm>
            <a:off x="159856" y="827683"/>
            <a:ext cx="6019661" cy="6324808"/>
          </a:xfrm>
          <a:prstGeom prst="rect">
            <a:avLst/>
          </a:prstGeom>
          <a:noFill/>
        </p:spPr>
        <p:txBody>
          <a:bodyPr wrap="square">
            <a:spAutoFit/>
          </a:bodyPr>
          <a:lstStyle/>
          <a:p>
            <a:r>
              <a:rPr lang="tr-TR" sz="1500" dirty="0"/>
              <a:t>Aktivasyon fonksiyonları testimin bu aşamasında </a:t>
            </a:r>
            <a:r>
              <a:rPr lang="tr-TR" sz="1500" b="1" dirty="0"/>
              <a:t>Sigmoid</a:t>
            </a:r>
            <a:r>
              <a:rPr lang="tr-TR" sz="1500" dirty="0"/>
              <a:t> fonksiyonunu mercek altına aldım. Elde ettiğim sonuçlar, bir yapay zeka modelinde yanlış mimari seçiminin tıbbi bir senaryoda ne kadar riskli olabileceğini açıkça kanıtladı:</a:t>
            </a:r>
          </a:p>
          <a:p>
            <a:endParaRPr lang="tr-TR" sz="1500" dirty="0"/>
          </a:p>
          <a:p>
            <a:pPr>
              <a:buFont typeface="Arial" panose="020B0604020202020204" pitchFamily="34" charset="0"/>
              <a:buChar char="•"/>
            </a:pPr>
            <a:r>
              <a:rPr lang="tr-TR" sz="1500" b="1" dirty="0"/>
              <a:t>Hata Matrisi ve "Iskalanan" Hastalar (Sol Üst):</a:t>
            </a:r>
            <a:r>
              <a:rPr lang="tr-TR" sz="1500" dirty="0"/>
              <a:t> Sigmoid fonksiyonunun performansına baktığımda tablo oldukça endişe verici. Gerçekte hasta olan </a:t>
            </a:r>
            <a:r>
              <a:rPr lang="tr-TR" sz="1500" b="1" dirty="0"/>
              <a:t>40 kişiden 8'ini sağlıklı sanarak</a:t>
            </a:r>
            <a:r>
              <a:rPr lang="tr-TR" sz="1500" dirty="0"/>
              <a:t> (</a:t>
            </a:r>
            <a:r>
              <a:rPr lang="tr-TR" sz="1500" dirty="0" err="1"/>
              <a:t>False</a:t>
            </a:r>
            <a:r>
              <a:rPr lang="tr-TR" sz="1500" dirty="0"/>
              <a:t> </a:t>
            </a:r>
            <a:r>
              <a:rPr lang="tr-TR" sz="1500" dirty="0" err="1"/>
              <a:t>Negative</a:t>
            </a:r>
            <a:r>
              <a:rPr lang="tr-TR" sz="1500" dirty="0"/>
              <a:t>) teşhis edemediğimi gördüm. Tıbbi bir modelde %20'lik bir hasta kaçırma oranı kabul edilemez bir risk seviyesidir.</a:t>
            </a:r>
          </a:p>
          <a:p>
            <a:pPr>
              <a:buFont typeface="Arial" panose="020B0604020202020204" pitchFamily="34" charset="0"/>
              <a:buChar char="•"/>
            </a:pPr>
            <a:endParaRPr lang="tr-TR" sz="1500" dirty="0"/>
          </a:p>
          <a:p>
            <a:pPr>
              <a:buFont typeface="Arial" panose="020B0604020202020204" pitchFamily="34" charset="0"/>
              <a:buChar char="•"/>
            </a:pPr>
            <a:r>
              <a:rPr lang="tr-TR" sz="1500" b="1" dirty="0"/>
              <a:t>Sınıflandırma Raporu ve Düşük Duyarlılık:</a:t>
            </a:r>
            <a:r>
              <a:rPr lang="tr-TR" sz="1500" dirty="0"/>
              <a:t> Paylaştığın raporda "hasta" sınıfı için </a:t>
            </a:r>
            <a:r>
              <a:rPr lang="tr-TR" sz="1500" b="1" dirty="0" err="1"/>
              <a:t>recall</a:t>
            </a:r>
            <a:r>
              <a:rPr lang="tr-TR" sz="1500" b="1" dirty="0"/>
              <a:t> (duyarlılık)</a:t>
            </a:r>
            <a:r>
              <a:rPr lang="tr-TR" sz="1500" dirty="0"/>
              <a:t> değerinin </a:t>
            </a:r>
            <a:r>
              <a:rPr lang="tr-TR" sz="1500" b="1" dirty="0"/>
              <a:t>0.80</a:t>
            </a:r>
            <a:r>
              <a:rPr lang="tr-TR" sz="1500" dirty="0"/>
              <a:t>'e gerilediğini görüyorum. Bu matematiksel veri, modelin her 5 hastadan 1'ini tamamen ıskaladığını doğruluyor. Ayrıca sağlıklı kişileri ayırma konusundaki kesinliği (</a:t>
            </a:r>
            <a:r>
              <a:rPr lang="tr-TR" sz="1500" dirty="0" err="1"/>
              <a:t>precision</a:t>
            </a:r>
            <a:r>
              <a:rPr lang="tr-TR" sz="1500" dirty="0"/>
              <a:t>) de </a:t>
            </a:r>
            <a:r>
              <a:rPr lang="tr-TR" sz="1500" b="1" dirty="0"/>
              <a:t>0.71</a:t>
            </a:r>
            <a:r>
              <a:rPr lang="tr-TR" sz="1500" dirty="0"/>
              <a:t>'e düşerek modelin genel güvenilirliğini sarsmış durumda.</a:t>
            </a:r>
          </a:p>
          <a:p>
            <a:pPr>
              <a:buFont typeface="Arial" panose="020B0604020202020204" pitchFamily="34" charset="0"/>
              <a:buChar char="•"/>
            </a:pPr>
            <a:endParaRPr lang="tr-TR" sz="1500" dirty="0"/>
          </a:p>
          <a:p>
            <a:pPr>
              <a:buFont typeface="Arial" panose="020B0604020202020204" pitchFamily="34" charset="0"/>
              <a:buChar char="•"/>
            </a:pPr>
            <a:r>
              <a:rPr lang="tr-TR" sz="1500" b="1" dirty="0"/>
              <a:t>Öğrenme Zorluğu ve Dalgalanmalar (Sağ Üst &amp; Sol Alt):</a:t>
            </a:r>
            <a:r>
              <a:rPr lang="tr-TR" sz="1500" dirty="0"/>
              <a:t> Eğitim Kaybı (</a:t>
            </a:r>
            <a:r>
              <a:rPr lang="tr-TR" sz="1500" dirty="0" err="1"/>
              <a:t>Loss</a:t>
            </a:r>
            <a:r>
              <a:rPr lang="tr-TR" sz="1500" dirty="0"/>
              <a:t>) grafiğinde düşüşün diğer fonksiyonlara göre çok daha yavaş olduğunu ve Başarı Oranı (</a:t>
            </a:r>
            <a:r>
              <a:rPr lang="tr-TR" sz="1500" dirty="0" err="1"/>
              <a:t>Accuracy</a:t>
            </a:r>
            <a:r>
              <a:rPr lang="tr-TR" sz="1500" dirty="0"/>
              <a:t>) grafiğinde 20. </a:t>
            </a:r>
            <a:r>
              <a:rPr lang="tr-TR" sz="1500" dirty="0" err="1"/>
              <a:t>epoch</a:t>
            </a:r>
            <a:r>
              <a:rPr lang="tr-TR" sz="1500" dirty="0"/>
              <a:t> civarında ciddi bir "kararsızlık" ve düşüş yaşandığını gözlemledim. </a:t>
            </a:r>
            <a:r>
              <a:rPr lang="tr-TR" sz="1500" dirty="0" err="1"/>
              <a:t>Sigmoid'in</a:t>
            </a:r>
            <a:r>
              <a:rPr lang="tr-TR" sz="1500" dirty="0"/>
              <a:t> yapısı gereği "</a:t>
            </a:r>
            <a:r>
              <a:rPr lang="tr-TR" sz="1500" dirty="0" err="1"/>
              <a:t>gradyan</a:t>
            </a:r>
            <a:r>
              <a:rPr lang="tr-TR" sz="1500" dirty="0"/>
              <a:t> </a:t>
            </a:r>
            <a:r>
              <a:rPr lang="tr-TR" sz="1500" dirty="0" err="1"/>
              <a:t>yokalması</a:t>
            </a:r>
            <a:r>
              <a:rPr lang="tr-TR" sz="1500" dirty="0"/>
              <a:t>" (</a:t>
            </a:r>
            <a:r>
              <a:rPr lang="tr-TR" sz="1500" dirty="0" err="1"/>
              <a:t>vanishing</a:t>
            </a:r>
            <a:r>
              <a:rPr lang="tr-TR" sz="1500" dirty="0"/>
              <a:t> </a:t>
            </a:r>
            <a:r>
              <a:rPr lang="tr-TR" sz="1500" dirty="0" err="1"/>
              <a:t>gradient</a:t>
            </a:r>
            <a:r>
              <a:rPr lang="tr-TR" sz="1500" dirty="0"/>
              <a:t>) problemine takıldığını ve karmaşık ilişkileri öğrenmekte zorlandığını bu grafiklerle netleştirdim.</a:t>
            </a:r>
          </a:p>
          <a:p>
            <a:pPr>
              <a:buFont typeface="Arial" panose="020B0604020202020204" pitchFamily="34" charset="0"/>
              <a:buChar char="•"/>
            </a:pPr>
            <a:endParaRPr lang="tr-TR" sz="1500" dirty="0"/>
          </a:p>
          <a:p>
            <a:pPr>
              <a:buFont typeface="Arial" panose="020B0604020202020204" pitchFamily="34" charset="0"/>
              <a:buChar char="•"/>
            </a:pPr>
            <a:r>
              <a:rPr lang="tr-TR" sz="1500" b="1" dirty="0"/>
              <a:t>Genel Başarı (</a:t>
            </a:r>
            <a:r>
              <a:rPr lang="tr-TR" sz="1500" b="1" dirty="0" err="1"/>
              <a:t>Accuracy</a:t>
            </a:r>
            <a:r>
              <a:rPr lang="tr-TR" sz="1500" b="1" dirty="0"/>
              <a:t>):</a:t>
            </a:r>
            <a:r>
              <a:rPr lang="tr-TR" sz="1500" dirty="0"/>
              <a:t> Toplam başarı oranının </a:t>
            </a:r>
            <a:r>
              <a:rPr lang="tr-TR" sz="1500" b="1" dirty="0"/>
              <a:t>%87</a:t>
            </a:r>
            <a:r>
              <a:rPr lang="tr-TR" sz="1500" dirty="0"/>
              <a:t>'de kalması, bu modelin neden nihai tercihim olamayacağını rakamlarla ortaya koyuyor.</a:t>
            </a:r>
          </a:p>
        </p:txBody>
      </p:sp>
      <p:pic>
        <p:nvPicPr>
          <p:cNvPr id="3" name="Resim 2">
            <a:extLst>
              <a:ext uri="{FF2B5EF4-FFF2-40B4-BE49-F238E27FC236}">
                <a16:creationId xmlns:a16="http://schemas.microsoft.com/office/drawing/2014/main" id="{9B1ACB0E-6E36-4BC8-AF04-68D8CEDE4711}"/>
              </a:ext>
            </a:extLst>
          </p:cNvPr>
          <p:cNvPicPr>
            <a:picLocks noChangeAspect="1"/>
          </p:cNvPicPr>
          <p:nvPr/>
        </p:nvPicPr>
        <p:blipFill>
          <a:blip r:embed="rId2"/>
          <a:stretch>
            <a:fillRect/>
          </a:stretch>
        </p:blipFill>
        <p:spPr>
          <a:xfrm>
            <a:off x="6143658" y="5579576"/>
            <a:ext cx="3558074" cy="1199823"/>
          </a:xfrm>
          <a:prstGeom prst="rect">
            <a:avLst/>
          </a:prstGeom>
        </p:spPr>
      </p:pic>
      <p:pic>
        <p:nvPicPr>
          <p:cNvPr id="6" name="Resim 5">
            <a:extLst>
              <a:ext uri="{FF2B5EF4-FFF2-40B4-BE49-F238E27FC236}">
                <a16:creationId xmlns:a16="http://schemas.microsoft.com/office/drawing/2014/main" id="{FAE9886B-32F8-47FE-9997-8708975FD65B}"/>
              </a:ext>
            </a:extLst>
          </p:cNvPr>
          <p:cNvPicPr>
            <a:picLocks noChangeAspect="1"/>
          </p:cNvPicPr>
          <p:nvPr/>
        </p:nvPicPr>
        <p:blipFill>
          <a:blip r:embed="rId3"/>
          <a:stretch>
            <a:fillRect/>
          </a:stretch>
        </p:blipFill>
        <p:spPr>
          <a:xfrm>
            <a:off x="9821439" y="5564115"/>
            <a:ext cx="2210705" cy="1173494"/>
          </a:xfrm>
          <a:prstGeom prst="rect">
            <a:avLst/>
          </a:prstGeom>
        </p:spPr>
      </p:pic>
      <p:pic>
        <p:nvPicPr>
          <p:cNvPr id="17410" name="Picture 2">
            <a:extLst>
              <a:ext uri="{FF2B5EF4-FFF2-40B4-BE49-F238E27FC236}">
                <a16:creationId xmlns:a16="http://schemas.microsoft.com/office/drawing/2014/main" id="{151F79C8-AE43-465E-98EB-EFDDE645EEE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8400" y="1152151"/>
            <a:ext cx="5836740" cy="4267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79480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4" name="AutoShape 2">
            <a:extLst>
              <a:ext uri="{FF2B5EF4-FFF2-40B4-BE49-F238E27FC236}">
                <a16:creationId xmlns:a16="http://schemas.microsoft.com/office/drawing/2014/main" id="{5039CB23-9A52-48BD-B99B-43421E14EA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sp>
        <p:nvSpPr>
          <p:cNvPr id="8" name="Metin kutusu 7">
            <a:extLst>
              <a:ext uri="{FF2B5EF4-FFF2-40B4-BE49-F238E27FC236}">
                <a16:creationId xmlns:a16="http://schemas.microsoft.com/office/drawing/2014/main" id="{84EF37B6-AFAF-4294-BF66-E81BE0095CAF}"/>
              </a:ext>
            </a:extLst>
          </p:cNvPr>
          <p:cNvSpPr txBox="1"/>
          <p:nvPr/>
        </p:nvSpPr>
        <p:spPr>
          <a:xfrm>
            <a:off x="2394236" y="477274"/>
            <a:ext cx="11638349" cy="430887"/>
          </a:xfrm>
          <a:prstGeom prst="rect">
            <a:avLst/>
          </a:prstGeom>
          <a:noFill/>
        </p:spPr>
        <p:txBody>
          <a:bodyPr wrap="square">
            <a:spAutoFit/>
          </a:bodyPr>
          <a:lstStyle/>
          <a:p>
            <a:r>
              <a:rPr lang="tr-TR" sz="2200" b="1" dirty="0"/>
              <a:t>TANH Aktivasyonu Performans Analizi Tehlikeli Model</a:t>
            </a:r>
          </a:p>
        </p:txBody>
      </p:sp>
      <p:sp>
        <p:nvSpPr>
          <p:cNvPr id="11" name="Metin kutusu 10">
            <a:extLst>
              <a:ext uri="{FF2B5EF4-FFF2-40B4-BE49-F238E27FC236}">
                <a16:creationId xmlns:a16="http://schemas.microsoft.com/office/drawing/2014/main" id="{2991B62B-9A27-481C-9E32-9FE039D880A5}"/>
              </a:ext>
            </a:extLst>
          </p:cNvPr>
          <p:cNvSpPr txBox="1"/>
          <p:nvPr/>
        </p:nvSpPr>
        <p:spPr>
          <a:xfrm>
            <a:off x="266690" y="951508"/>
            <a:ext cx="5810337" cy="5632311"/>
          </a:xfrm>
          <a:prstGeom prst="rect">
            <a:avLst/>
          </a:prstGeom>
          <a:noFill/>
        </p:spPr>
        <p:txBody>
          <a:bodyPr wrap="square">
            <a:spAutoFit/>
          </a:bodyPr>
          <a:lstStyle/>
          <a:p>
            <a:r>
              <a:rPr lang="tr-TR" sz="1500" dirty="0"/>
              <a:t>Bu panelde, optimum olarak belirlediğim </a:t>
            </a:r>
            <a:r>
              <a:rPr lang="tr-TR" sz="1500" b="1" dirty="0" err="1"/>
              <a:t>ReLU</a:t>
            </a:r>
            <a:r>
              <a:rPr lang="tr-TR" sz="1500" dirty="0"/>
              <a:t> yerine </a:t>
            </a:r>
            <a:r>
              <a:rPr lang="tr-TR" sz="1500" b="1" dirty="0"/>
              <a:t>TANH</a:t>
            </a:r>
            <a:r>
              <a:rPr lang="tr-TR" sz="1500" dirty="0"/>
              <a:t> aktivasyon fonksiyonunu kullandığımda modelimin nasıl tepki verdiğini analiz ettim. </a:t>
            </a:r>
          </a:p>
          <a:p>
            <a:endParaRPr lang="tr-TR" sz="1500" dirty="0"/>
          </a:p>
          <a:p>
            <a:pPr>
              <a:buFont typeface="Arial" panose="020B0604020202020204" pitchFamily="34" charset="0"/>
              <a:buChar char="•"/>
            </a:pPr>
            <a:r>
              <a:rPr lang="tr-TR" sz="1500" b="1" dirty="0"/>
              <a:t>Hata Matrisi ve Duyarlılık Kaybı :</a:t>
            </a:r>
            <a:r>
              <a:rPr lang="tr-TR" sz="1500" dirty="0"/>
              <a:t>Görseldeki hata matrisini incelediğimde, gerçekte hasta olan </a:t>
            </a:r>
            <a:r>
              <a:rPr lang="tr-TR" sz="1500" b="1" dirty="0"/>
              <a:t>40 kişinin 31’ini</a:t>
            </a:r>
            <a:r>
              <a:rPr lang="tr-TR" sz="1500" dirty="0"/>
              <a:t> doğru yakaladığımı, ancak </a:t>
            </a:r>
            <a:r>
              <a:rPr lang="tr-TR" sz="1500" b="1" dirty="0"/>
              <a:t>9 hastayı sağlıklı sandığını</a:t>
            </a:r>
            <a:r>
              <a:rPr lang="tr-TR" sz="1500" dirty="0"/>
              <a:t> görüyorum. Tıbbi bir modelde</a:t>
            </a:r>
            <a:r>
              <a:rPr lang="tr-TR" sz="1500" b="1" dirty="0"/>
              <a:t> en istenmeyen</a:t>
            </a:r>
            <a:r>
              <a:rPr lang="tr-TR" sz="1500" dirty="0"/>
              <a:t> durum budur; bir hastayı teşhis edemeden eve göndermek </a:t>
            </a:r>
            <a:r>
              <a:rPr lang="tr-TR" sz="1500" b="1" dirty="0"/>
              <a:t>(</a:t>
            </a:r>
            <a:r>
              <a:rPr lang="tr-TR" sz="1500" b="1" dirty="0" err="1"/>
              <a:t>False</a:t>
            </a:r>
            <a:r>
              <a:rPr lang="tr-TR" sz="1500" b="1" dirty="0"/>
              <a:t> </a:t>
            </a:r>
            <a:r>
              <a:rPr lang="tr-TR" sz="1500" b="1" dirty="0" err="1"/>
              <a:t>Negative</a:t>
            </a:r>
            <a:r>
              <a:rPr lang="tr-TR" sz="1500" b="1" dirty="0"/>
              <a:t>) </a:t>
            </a:r>
            <a:r>
              <a:rPr lang="tr-TR" sz="1500" dirty="0"/>
              <a:t>hayati bir risk taşır.</a:t>
            </a:r>
          </a:p>
          <a:p>
            <a:pPr>
              <a:buFont typeface="Arial" panose="020B0604020202020204" pitchFamily="34" charset="0"/>
              <a:buChar char="•"/>
            </a:pPr>
            <a:endParaRPr lang="tr-TR" sz="1500" dirty="0"/>
          </a:p>
          <a:p>
            <a:pPr>
              <a:buFont typeface="Arial" panose="020B0604020202020204" pitchFamily="34" charset="0"/>
              <a:buChar char="•"/>
            </a:pPr>
            <a:r>
              <a:rPr lang="tr-TR" sz="1500" b="1" dirty="0"/>
              <a:t>Sınıflandırma Raporu Eleştirisi:</a:t>
            </a:r>
            <a:r>
              <a:rPr lang="tr-TR" sz="1500" dirty="0"/>
              <a:t> Paylaştığın raporda "hasta" sınıfı için </a:t>
            </a:r>
            <a:r>
              <a:rPr lang="tr-TR" sz="1500" b="1" dirty="0" err="1"/>
              <a:t>recall</a:t>
            </a:r>
            <a:r>
              <a:rPr lang="tr-TR" sz="1500" b="1" dirty="0"/>
              <a:t> (duyarlılık)</a:t>
            </a:r>
            <a:r>
              <a:rPr lang="tr-TR" sz="1500" dirty="0"/>
              <a:t> değerinin </a:t>
            </a:r>
            <a:r>
              <a:rPr lang="tr-TR" sz="1500" b="1" dirty="0"/>
              <a:t>0.78</a:t>
            </a:r>
            <a:r>
              <a:rPr lang="tr-TR" sz="1500" dirty="0"/>
              <a:t>'e düştüğünü görüyorum. Bu matematiksel veri, modelin hastaların %22'ini gözden kaçırdığı anlamına geliyor ki bu oran, kritik teşhisler için oldukça yüksektir.</a:t>
            </a:r>
          </a:p>
          <a:p>
            <a:pPr>
              <a:buFont typeface="Arial" panose="020B0604020202020204" pitchFamily="34" charset="0"/>
              <a:buChar char="•"/>
            </a:pPr>
            <a:endParaRPr lang="tr-TR" sz="1500" dirty="0"/>
          </a:p>
          <a:p>
            <a:pPr>
              <a:buFont typeface="Arial" panose="020B0604020202020204" pitchFamily="34" charset="0"/>
              <a:buChar char="•"/>
            </a:pPr>
            <a:r>
              <a:rPr lang="tr-TR" sz="1500" b="1" dirty="0"/>
              <a:t>Eğitim Kaybı ve Başarı Oranı </a:t>
            </a:r>
            <a:r>
              <a:rPr lang="tr-TR" sz="1500" dirty="0"/>
              <a:t>Eğitim kaybı (</a:t>
            </a:r>
            <a:r>
              <a:rPr lang="tr-TR" sz="1500" dirty="0" err="1"/>
              <a:t>loss</a:t>
            </a:r>
            <a:r>
              <a:rPr lang="tr-TR" sz="1500" dirty="0"/>
              <a:t>) pürüzsüz bir şekilde düşse de, başarı oranı grafiğinde </a:t>
            </a:r>
            <a:r>
              <a:rPr lang="tr-TR" sz="1500" b="1" dirty="0" err="1"/>
              <a:t>Val</a:t>
            </a:r>
            <a:r>
              <a:rPr lang="tr-TR" sz="1500" b="1" dirty="0"/>
              <a:t> </a:t>
            </a:r>
            <a:r>
              <a:rPr lang="tr-TR" sz="1500" b="1" dirty="0" err="1"/>
              <a:t>Acc</a:t>
            </a:r>
            <a:r>
              <a:rPr lang="tr-TR" sz="1500" dirty="0"/>
              <a:t> (turuncu çizgi) ile </a:t>
            </a:r>
            <a:r>
              <a:rPr lang="tr-TR" sz="1500" b="1" dirty="0"/>
              <a:t>Train </a:t>
            </a:r>
            <a:r>
              <a:rPr lang="tr-TR" sz="1500" b="1" dirty="0" err="1"/>
              <a:t>Acc</a:t>
            </a:r>
            <a:r>
              <a:rPr lang="tr-TR" sz="1500" dirty="0"/>
              <a:t> (mavi çizgi) arasındaki makasın açılmaya başladığını gözlemledim. Bu durum, TANH fonksiyonunun veriyi genelleştirme konusunda </a:t>
            </a:r>
            <a:r>
              <a:rPr lang="tr-TR" sz="1500" dirty="0" err="1"/>
              <a:t>ReLU</a:t>
            </a:r>
            <a:r>
              <a:rPr lang="tr-TR" sz="1500" dirty="0"/>
              <a:t> kadar esnek olmadığını gösteriyor.</a:t>
            </a:r>
          </a:p>
          <a:p>
            <a:pPr>
              <a:buFont typeface="Arial" panose="020B0604020202020204" pitchFamily="34" charset="0"/>
              <a:buChar char="•"/>
            </a:pPr>
            <a:endParaRPr lang="tr-TR" sz="1500" dirty="0"/>
          </a:p>
          <a:p>
            <a:pPr>
              <a:buFont typeface="Arial" panose="020B0604020202020204" pitchFamily="34" charset="0"/>
              <a:buChar char="•"/>
            </a:pPr>
            <a:r>
              <a:rPr lang="tr-TR" sz="1500" b="1" dirty="0"/>
              <a:t>ROC </a:t>
            </a:r>
            <a:r>
              <a:rPr lang="tr-TR" sz="1500" b="1" dirty="0" err="1"/>
              <a:t>Curve</a:t>
            </a:r>
            <a:r>
              <a:rPr lang="tr-TR" sz="1500" b="1" dirty="0"/>
              <a:t> (Sağ Alt):</a:t>
            </a:r>
            <a:r>
              <a:rPr lang="tr-TR" sz="1500" dirty="0"/>
              <a:t> AUC değeri </a:t>
            </a:r>
            <a:r>
              <a:rPr lang="tr-TR" sz="1500" b="1" dirty="0"/>
              <a:t>0.9987</a:t>
            </a:r>
            <a:r>
              <a:rPr lang="tr-TR" sz="1500" dirty="0"/>
              <a:t> ile mükemmele yakın olsa da, </a:t>
            </a:r>
            <a:r>
              <a:rPr lang="tr-TR" sz="1500" dirty="0" err="1"/>
              <a:t>ReLU</a:t>
            </a:r>
            <a:r>
              <a:rPr lang="tr-TR" sz="1500" dirty="0"/>
              <a:t> ile elde ettiğim o tam kusursuzluktan sapmalar olduğunu fark ettim.</a:t>
            </a:r>
          </a:p>
        </p:txBody>
      </p:sp>
      <p:pic>
        <p:nvPicPr>
          <p:cNvPr id="16388" name="Picture 4">
            <a:extLst>
              <a:ext uri="{FF2B5EF4-FFF2-40B4-BE49-F238E27FC236}">
                <a16:creationId xmlns:a16="http://schemas.microsoft.com/office/drawing/2014/main" id="{C90E2DA0-7E06-47B4-A49F-075A120986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43658" y="1152666"/>
            <a:ext cx="5810335" cy="4247867"/>
          </a:xfrm>
          <a:prstGeom prst="rect">
            <a:avLst/>
          </a:prstGeom>
          <a:noFill/>
          <a:extLst>
            <a:ext uri="{909E8E84-426E-40DD-AFC4-6F175D3DCCD1}">
              <a14:hiddenFill xmlns:a14="http://schemas.microsoft.com/office/drawing/2010/main">
                <a:solidFill>
                  <a:srgbClr val="FFFFFF"/>
                </a:solidFill>
              </a14:hiddenFill>
            </a:ext>
          </a:extLst>
        </p:spPr>
      </p:pic>
      <p:pic>
        <p:nvPicPr>
          <p:cNvPr id="14" name="Resim 13">
            <a:extLst>
              <a:ext uri="{FF2B5EF4-FFF2-40B4-BE49-F238E27FC236}">
                <a16:creationId xmlns:a16="http://schemas.microsoft.com/office/drawing/2014/main" id="{32B61FDF-C159-4AF0-AF7A-8AA2F884918C}"/>
              </a:ext>
            </a:extLst>
          </p:cNvPr>
          <p:cNvPicPr>
            <a:picLocks noChangeAspect="1"/>
          </p:cNvPicPr>
          <p:nvPr/>
        </p:nvPicPr>
        <p:blipFill>
          <a:blip r:embed="rId3"/>
          <a:stretch>
            <a:fillRect/>
          </a:stretch>
        </p:blipFill>
        <p:spPr>
          <a:xfrm>
            <a:off x="6286351" y="5480903"/>
            <a:ext cx="3272316" cy="1397171"/>
          </a:xfrm>
          <a:prstGeom prst="rect">
            <a:avLst/>
          </a:prstGeom>
        </p:spPr>
      </p:pic>
      <p:pic>
        <p:nvPicPr>
          <p:cNvPr id="16" name="Resim 15">
            <a:extLst>
              <a:ext uri="{FF2B5EF4-FFF2-40B4-BE49-F238E27FC236}">
                <a16:creationId xmlns:a16="http://schemas.microsoft.com/office/drawing/2014/main" id="{7E5EB936-9863-4495-95D8-F4C067DF8CA9}"/>
              </a:ext>
            </a:extLst>
          </p:cNvPr>
          <p:cNvPicPr>
            <a:picLocks noChangeAspect="1"/>
          </p:cNvPicPr>
          <p:nvPr/>
        </p:nvPicPr>
        <p:blipFill>
          <a:blip r:embed="rId4"/>
          <a:stretch>
            <a:fillRect/>
          </a:stretch>
        </p:blipFill>
        <p:spPr>
          <a:xfrm>
            <a:off x="9772334" y="5760113"/>
            <a:ext cx="2419666" cy="838750"/>
          </a:xfrm>
          <a:prstGeom prst="rect">
            <a:avLst/>
          </a:prstGeom>
        </p:spPr>
      </p:pic>
    </p:spTree>
    <p:extLst>
      <p:ext uri="{BB962C8B-B14F-4D97-AF65-F5344CB8AC3E}">
        <p14:creationId xmlns:p14="http://schemas.microsoft.com/office/powerpoint/2010/main" val="3706612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7CFD13F-59D8-D8FF-9C41-F2213E06CEE0}"/>
              </a:ext>
            </a:extLst>
          </p:cNvPr>
          <p:cNvSpPr>
            <a:spLocks noGrp="1"/>
          </p:cNvSpPr>
          <p:nvPr>
            <p:ph type="title"/>
          </p:nvPr>
        </p:nvSpPr>
        <p:spPr/>
        <p:txBody>
          <a:bodyPr vert="horz" lIns="91440" tIns="45720" rIns="91440" bIns="45720" rtlCol="0" anchor="ctr">
            <a:normAutofit/>
          </a:bodyPr>
          <a:lstStyle/>
          <a:p>
            <a:pPr algn="ctr"/>
            <a:r>
              <a:rPr lang="tr-TR" b="1" dirty="0"/>
              <a:t>Kaynakça:</a:t>
            </a:r>
            <a:endParaRPr lang="tr-TR" dirty="0"/>
          </a:p>
        </p:txBody>
      </p:sp>
      <p:sp>
        <p:nvSpPr>
          <p:cNvPr id="3" name="İçerik Yer Tutucusu 2">
            <a:extLst>
              <a:ext uri="{FF2B5EF4-FFF2-40B4-BE49-F238E27FC236}">
                <a16:creationId xmlns:a16="http://schemas.microsoft.com/office/drawing/2014/main" id="{3D2F0239-64AC-B940-6B17-82A169F81541}"/>
              </a:ext>
            </a:extLst>
          </p:cNvPr>
          <p:cNvSpPr>
            <a:spLocks noGrp="1"/>
          </p:cNvSpPr>
          <p:nvPr>
            <p:ph idx="1"/>
          </p:nvPr>
        </p:nvSpPr>
        <p:spPr/>
        <p:txBody>
          <a:bodyPr vert="horz" lIns="91440" tIns="45720" rIns="91440" bIns="45720" rtlCol="0" anchor="ctr">
            <a:noAutofit/>
          </a:bodyPr>
          <a:lstStyle/>
          <a:p>
            <a:pPr marL="305435" indent="-305435"/>
            <a:r>
              <a:rPr lang="tr-TR" sz="1700" b="1" dirty="0"/>
              <a:t>Veri Seti (</a:t>
            </a:r>
            <a:r>
              <a:rPr lang="tr-TR" sz="1700" b="1" dirty="0" err="1"/>
              <a:t>Dataset</a:t>
            </a:r>
            <a:r>
              <a:rPr lang="tr-TR" sz="1700" b="1" dirty="0"/>
              <a:t>):</a:t>
            </a:r>
          </a:p>
          <a:p>
            <a:pPr marL="0" indent="0">
              <a:buNone/>
            </a:pPr>
            <a:r>
              <a:rPr lang="tr-TR" sz="1700" dirty="0"/>
              <a:t>      </a:t>
            </a:r>
            <a:r>
              <a:rPr lang="tr-TR" sz="1700" dirty="0" err="1"/>
              <a:t>Mansoor</a:t>
            </a:r>
            <a:r>
              <a:rPr lang="tr-TR" sz="1700" dirty="0"/>
              <a:t> </a:t>
            </a:r>
            <a:r>
              <a:rPr lang="tr-TR" sz="1700" dirty="0" err="1"/>
              <a:t>Iqbal</a:t>
            </a:r>
            <a:r>
              <a:rPr lang="tr-TR" sz="1700" dirty="0"/>
              <a:t>, 2017, </a:t>
            </a:r>
            <a:r>
              <a:rPr lang="tr-TR" sz="1700" dirty="0" err="1"/>
              <a:t>Chronic</a:t>
            </a:r>
            <a:r>
              <a:rPr lang="tr-TR" sz="1700" dirty="0"/>
              <a:t> </a:t>
            </a:r>
            <a:r>
              <a:rPr lang="tr-TR" sz="1700" dirty="0" err="1"/>
              <a:t>KIdney</a:t>
            </a:r>
            <a:r>
              <a:rPr lang="tr-TR" sz="1700" dirty="0"/>
              <a:t> </a:t>
            </a:r>
            <a:r>
              <a:rPr lang="tr-TR" sz="1700" dirty="0" err="1"/>
              <a:t>Disease</a:t>
            </a:r>
            <a:r>
              <a:rPr lang="tr-TR" sz="1700" dirty="0"/>
              <a:t> </a:t>
            </a:r>
            <a:r>
              <a:rPr lang="tr-TR" sz="1700" dirty="0" err="1"/>
              <a:t>dataset</a:t>
            </a:r>
            <a:r>
              <a:rPr lang="tr-TR" sz="1700" dirty="0"/>
              <a:t> ,https://www.kaggle.com/datasets/mansoordaku/ckdisease/data</a:t>
            </a:r>
          </a:p>
        </p:txBody>
      </p:sp>
    </p:spTree>
    <p:extLst>
      <p:ext uri="{BB962C8B-B14F-4D97-AF65-F5344CB8AC3E}">
        <p14:creationId xmlns:p14="http://schemas.microsoft.com/office/powerpoint/2010/main" val="275858914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otalTime>325</TotalTime>
  <Words>3237</Words>
  <Application>Microsoft Office PowerPoint</Application>
  <PresentationFormat>Geniş ekran</PresentationFormat>
  <Paragraphs>149</Paragraphs>
  <Slides>20</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20</vt:i4>
      </vt:variant>
    </vt:vector>
  </HeadingPairs>
  <TitlesOfParts>
    <vt:vector size="24" baseType="lpstr">
      <vt:lpstr>Arial</vt:lpstr>
      <vt:lpstr>Gill Sans MT</vt:lpstr>
      <vt:lpstr>Wingdings 2</vt:lpstr>
      <vt:lpstr>Dividend</vt:lpstr>
      <vt:lpstr>Kronik böbrek yetmezliği tespiti  </vt:lpstr>
      <vt:lpstr>PowerPoint Sunusu</vt:lpstr>
      <vt:lpstr> Veri Setini inceleyelim </vt:lpstr>
      <vt:lpstr>PowerPoint Sunusu</vt:lpstr>
      <vt:lpstr>Verideki Durum: Tersine Sınıf Dengesizliği</vt:lpstr>
      <vt:lpstr>PowerPoint Sunusu</vt:lpstr>
      <vt:lpstr>Verinin Karakteri ve Eksik Veri Stratejisi  (Histogram &amp; Boxplot)</vt:lpstr>
      <vt:lpstr>PowerPoint Sunusu</vt:lpstr>
      <vt:lpstr>Özellikler Arası İlişkiler (Korelasyon Isı Haritası)</vt:lpstr>
      <vt:lpstr>PowerPoint Sunusu</vt:lpstr>
      <vt:lpstr>Veri Bölümleme ve Adil Öğrenme Stratejim</vt:lpstr>
      <vt:lpstr>PowerPoint Sunusu</vt:lpstr>
      <vt:lpstr>PowerPoint Sunusu</vt:lpstr>
      <vt:lpstr>PowerPoint Sunusu</vt:lpstr>
      <vt:lpstr>PowerPoint Sunusu</vt:lpstr>
      <vt:lpstr>PowerPoint Sunusu</vt:lpstr>
      <vt:lpstr>PowerPoint Sunusu</vt:lpstr>
      <vt:lpstr>PowerPoint Sunusu</vt:lpstr>
      <vt:lpstr>PowerPoint Sunusu</vt:lpstr>
      <vt:lpstr>Kaynakça: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BulanIk AnalİTİk HİYERARŞİ Prosesİ (BAHP)</dc:title>
  <dc:creator/>
  <cp:lastModifiedBy>Yasin Karaçam</cp:lastModifiedBy>
  <cp:revision>1098</cp:revision>
  <dcterms:created xsi:type="dcterms:W3CDTF">2025-10-09T20:25:00Z</dcterms:created>
  <dcterms:modified xsi:type="dcterms:W3CDTF">2026-04-28T21:51:55Z</dcterms:modified>
</cp:coreProperties>
</file>